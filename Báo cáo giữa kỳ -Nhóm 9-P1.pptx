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94" r:id="rId5"/>
    <p:sldId id="295" r:id="rId6"/>
    <p:sldId id="296" r:id="rId7"/>
    <p:sldId id="297" r:id="rId8"/>
    <p:sldId id="298" r:id="rId9"/>
    <p:sldId id="299" r:id="rId10"/>
    <p:sldId id="300"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4"/>
    <p:restoredTop sz="66479"/>
  </p:normalViewPr>
  <p:slideViewPr>
    <p:cSldViewPr snapToGrid="0">
      <p:cViewPr varScale="1">
        <p:scale>
          <a:sx n="40" d="100"/>
          <a:sy n="40" d="100"/>
        </p:scale>
        <p:origin x="35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vi-VN" b="1" dirty="0"/>
              <a:t>Tối ưu hóa lộ trình du lịch</a:t>
            </a:r>
            <a:endParaRPr lang="vi-VN" dirty="0"/>
          </a:p>
          <a:p>
            <a:pPr>
              <a:buFont typeface="Arial" panose="020B0604020202020204" pitchFamily="34" charset="0"/>
              <a:buChar char="•"/>
            </a:pPr>
            <a:r>
              <a:rPr lang="vi-VN" dirty="0"/>
              <a:t>Tìm đường đi ngắn nhất, nhanh nhất hoặc tiết kiệm chi phí nhất giữa hai (hoặc nhiều) địa điểm.</a:t>
            </a:r>
          </a:p>
          <a:p>
            <a:pPr>
              <a:buFont typeface="Arial" panose="020B0604020202020204" pitchFamily="34" charset="0"/>
              <a:buChar char="•"/>
            </a:pPr>
            <a:r>
              <a:rPr lang="vi-VN" dirty="0"/>
              <a:t>Hỗ trợ so sánh đa tiêu chí (khoảng cách, thời gian, chi phí) để người dùng linh hoạt chọn ưu tiên.</a:t>
            </a:r>
          </a:p>
          <a:p>
            <a:pPr>
              <a:buNone/>
            </a:pPr>
            <a:r>
              <a:rPr lang="vi-VN" b="1" dirty="0"/>
              <a:t>Cung cấp công cụ trực quan, dễ dùng</a:t>
            </a:r>
            <a:endParaRPr lang="vi-VN" dirty="0"/>
          </a:p>
          <a:p>
            <a:pPr>
              <a:buFont typeface="Arial" panose="020B0604020202020204" pitchFamily="34" charset="0"/>
              <a:buChar char="•"/>
            </a:pPr>
            <a:r>
              <a:rPr lang="vi-VN" dirty="0"/>
              <a:t>Giao diện cho phép nhập điểm xuất phát, điểm đến, cùng các tuỳ chọn ưu tiên.</a:t>
            </a:r>
          </a:p>
          <a:p>
            <a:pPr>
              <a:buFont typeface="Arial" panose="020B0604020202020204" pitchFamily="34" charset="0"/>
              <a:buChar char="•"/>
            </a:pPr>
            <a:r>
              <a:rPr lang="vi-VN" dirty="0"/>
              <a:t>Hiển thị kết quả lộ trình dưới dạng danh sách, bản đồ và sơ đồ bước đi.</a:t>
            </a:r>
          </a:p>
          <a:p>
            <a:endParaRPr lang="en-VN" dirty="0"/>
          </a:p>
        </p:txBody>
      </p:sp>
    </p:spTree>
    <p:extLst>
      <p:ext uri="{BB962C8B-B14F-4D97-AF65-F5344CB8AC3E}">
        <p14:creationId xmlns:p14="http://schemas.microsoft.com/office/powerpoint/2010/main" val="4166980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1" name="Body Level One…"/>
          <p:cNvSpPr txBox="1">
            <a:spLocks noGrp="1"/>
          </p:cNvSpPr>
          <p:nvPr>
            <p:ph type="body" sz="quarter" idx="1" hasCustomPrompt="1"/>
          </p:nvPr>
        </p:nvSpPr>
        <p:spPr>
          <a:xfrm>
            <a:off x="1201340" y="11859862"/>
            <a:ext cx="21971004" cy="636980"/>
          </a:xfrm>
          <a:prstGeom prst="rect">
            <a:avLst/>
          </a:prstGeom>
        </p:spPr>
        <p:txBody>
          <a:bodyPr lIns="45718" tIns="45718" rIns="45718" bIns="45718" numCol="1" spcCol="38100"/>
          <a:lstStyle>
            <a:lvl1pPr marL="0" indent="0" defTabSz="825500">
              <a:lnSpc>
                <a:spcPct val="100000"/>
              </a:lnSpc>
              <a:spcBef>
                <a:spcPts val="0"/>
              </a:spcBef>
              <a:buSzTx/>
              <a:buNone/>
              <a:defRPr sz="3600" b="1"/>
            </a:lvl1pPr>
            <a:lvl2pPr marL="1066800" indent="-457200" defTabSz="825500">
              <a:lnSpc>
                <a:spcPct val="100000"/>
              </a:lnSpc>
              <a:spcBef>
                <a:spcPts val="0"/>
              </a:spcBef>
              <a:defRPr sz="3600" b="1"/>
            </a:lvl2pPr>
            <a:lvl3pPr marL="1676400" indent="-457200" defTabSz="825500">
              <a:lnSpc>
                <a:spcPct val="100000"/>
              </a:lnSpc>
              <a:spcBef>
                <a:spcPts val="0"/>
              </a:spcBef>
              <a:defRPr sz="3600" b="1"/>
            </a:lvl3pPr>
            <a:lvl4pPr marL="2286000" indent="-457200" defTabSz="825500">
              <a:lnSpc>
                <a:spcPct val="100000"/>
              </a:lnSpc>
              <a:spcBef>
                <a:spcPts val="0"/>
              </a:spcBef>
              <a:defRPr sz="3600" b="1"/>
            </a:lvl4pPr>
            <a:lvl5pPr marL="2895600" indent="-457200" defTabSz="825500">
              <a:lnSpc>
                <a:spcPct val="100000"/>
              </a:lnSpc>
              <a:spcBef>
                <a:spcPts val="0"/>
              </a:spcBef>
              <a:defRPr sz="3600" b="1"/>
            </a:lvl5pPr>
          </a:lstStyle>
          <a:p>
            <a:r>
              <a:t>Author and Date</a:t>
            </a:r>
          </a:p>
          <a:p>
            <a:pPr lvl="1"/>
            <a:endParaRPr/>
          </a:p>
          <a:p>
            <a:pPr lvl="2"/>
            <a:endParaRPr/>
          </a:p>
          <a:p>
            <a:pPr lvl="3"/>
            <a:endParaRPr/>
          </a:p>
          <a:p>
            <a:pPr lvl="4"/>
            <a:endParaRPr/>
          </a:p>
        </p:txBody>
      </p:sp>
      <p:sp>
        <p:nvSpPr>
          <p:cNvPr id="12" name="Presentation Title"/>
          <p:cNvSpPr txBox="1">
            <a:spLocks noGrp="1"/>
          </p:cNvSpPr>
          <p:nvPr>
            <p:ph type="title" hasCustomPrompt="1"/>
          </p:nvPr>
        </p:nvSpPr>
        <p:spPr>
          <a:xfrm>
            <a:off x="1206496" y="2574991"/>
            <a:ext cx="21971005" cy="4648202"/>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21" hasCustomPrompt="1"/>
          </p:nvPr>
        </p:nvSpPr>
        <p:spPr>
          <a:xfrm>
            <a:off x="1201342" y="7223190"/>
            <a:ext cx="21971002" cy="1905002"/>
          </a:xfrm>
          <a:prstGeom prst="rect">
            <a:avLst/>
          </a:prstGeom>
        </p:spPr>
        <p:txBody>
          <a:bodyPr numCol="1" spcCol="38100"/>
          <a:lstStyle>
            <a:lvl1pPr marL="0" indent="0" defTabSz="825500">
              <a:lnSpc>
                <a:spcPct val="100000"/>
              </a:lnSpc>
              <a:spcBef>
                <a:spcPts val="0"/>
              </a:spcBef>
              <a:buSzTx/>
              <a:buNone/>
              <a:defRPr sz="5500" b="1"/>
            </a:lvl1pPr>
          </a:lstStyle>
          <a:p>
            <a:r>
              <a:t>Presentation Subtitle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1155700" y="-1295400"/>
            <a:ext cx="26746200" cy="16018933"/>
          </a:xfrm>
          <a:prstGeom prst="rect">
            <a:avLst/>
          </a:prstGeom>
        </p:spPr>
        <p:txBody>
          <a:bodyPr lIns="91439" tIns="45719" rIns="91439" bIns="45719" numCol="1" spcCol="38100">
            <a:noAutofit/>
          </a:bodyPr>
          <a:lstStyle/>
          <a:p>
            <a:endParaRPr/>
          </a:p>
        </p:txBody>
      </p:sp>
      <p:sp>
        <p:nvSpPr>
          <p:cNvPr id="22"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lvl1pPr>
          </a:lstStyle>
          <a:p>
            <a:r>
              <a:t>Presentation Title</a:t>
            </a:r>
          </a:p>
        </p:txBody>
      </p:sp>
      <p:sp>
        <p:nvSpPr>
          <p:cNvPr id="23" name="Body Level One…"/>
          <p:cNvSpPr txBox="1">
            <a:spLocks noGrp="1"/>
          </p:cNvSpPr>
          <p:nvPr>
            <p:ph type="body" sz="quarter" idx="1" hasCustomPrompt="1"/>
          </p:nvPr>
        </p:nvSpPr>
        <p:spPr>
          <a:xfrm>
            <a:off x="1207690" y="1106137"/>
            <a:ext cx="21968621" cy="636980"/>
          </a:xfrm>
          <a:prstGeom prst="rect">
            <a:avLst/>
          </a:prstGeom>
        </p:spPr>
        <p:txBody>
          <a:bodyPr lIns="45718" tIns="45718" rIns="45718" bIns="45718" numCol="1" spcCol="38100"/>
          <a:lstStyle>
            <a:lvl1pPr marL="0" indent="0" defTabSz="825500">
              <a:lnSpc>
                <a:spcPct val="100000"/>
              </a:lnSpc>
              <a:spcBef>
                <a:spcPts val="0"/>
              </a:spcBef>
              <a:buSzTx/>
              <a:buNone/>
              <a:defRPr sz="3600" b="1"/>
            </a:lvl1pPr>
            <a:lvl2pPr marL="1066800" indent="-457200" defTabSz="825500">
              <a:lnSpc>
                <a:spcPct val="100000"/>
              </a:lnSpc>
              <a:spcBef>
                <a:spcPts val="0"/>
              </a:spcBef>
              <a:defRPr sz="3600" b="1"/>
            </a:lvl2pPr>
            <a:lvl3pPr marL="1676400" indent="-457200" defTabSz="825500">
              <a:lnSpc>
                <a:spcPct val="100000"/>
              </a:lnSpc>
              <a:spcBef>
                <a:spcPts val="0"/>
              </a:spcBef>
              <a:defRPr sz="3600" b="1"/>
            </a:lvl3pPr>
            <a:lvl4pPr marL="2286000" indent="-457200" defTabSz="825500">
              <a:lnSpc>
                <a:spcPct val="100000"/>
              </a:lnSpc>
              <a:spcBef>
                <a:spcPts val="0"/>
              </a:spcBef>
              <a:defRPr sz="3600" b="1"/>
            </a:lvl4pPr>
            <a:lvl5pPr marL="2895600" indent="-457200" defTabSz="825500">
              <a:lnSpc>
                <a:spcPct val="100000"/>
              </a:lnSpc>
              <a:spcBef>
                <a:spcPts val="0"/>
              </a:spcBef>
              <a:defRPr sz="3600" b="1"/>
            </a:lvl5pPr>
          </a:lstStyle>
          <a:p>
            <a:r>
              <a:t>Author and Date</a:t>
            </a:r>
          </a:p>
          <a:p>
            <a:pPr lvl="1"/>
            <a:endParaRPr/>
          </a:p>
          <a:p>
            <a:pPr lvl="2"/>
            <a:endParaRPr/>
          </a:p>
          <a:p>
            <a:pPr lvl="3"/>
            <a:endParaRPr/>
          </a:p>
          <a:p>
            <a:pPr lvl="4"/>
            <a:endParaRPr/>
          </a:p>
        </p:txBody>
      </p:sp>
      <p:sp>
        <p:nvSpPr>
          <p:cNvPr id="24" name="Body Level One…"/>
          <p:cNvSpPr txBox="1">
            <a:spLocks noGrp="1"/>
          </p:cNvSpPr>
          <p:nvPr>
            <p:ph type="body" sz="quarter" idx="22" hasCustomPrompt="1"/>
          </p:nvPr>
        </p:nvSpPr>
        <p:spPr>
          <a:xfrm>
            <a:off x="1206500" y="11609909"/>
            <a:ext cx="21971000" cy="1116953"/>
          </a:xfrm>
          <a:prstGeom prst="rect">
            <a:avLst/>
          </a:prstGeom>
        </p:spPr>
        <p:txBody>
          <a:bodyPr numCol="1" spcCol="38100"/>
          <a:lstStyle>
            <a:lvl1pPr marL="0" indent="0" defTabSz="825500">
              <a:lnSpc>
                <a:spcPct val="100000"/>
              </a:lnSpc>
              <a:spcBef>
                <a:spcPts val="0"/>
              </a:spcBef>
              <a:buSzTx/>
              <a:buNone/>
              <a:defRPr sz="5500" b="1"/>
            </a:lvl1pPr>
          </a:lstStyle>
          <a:p>
            <a:r>
              <a:t>Presentation Subtitle</a:t>
            </a: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ummus"/>
          <p:cNvSpPr>
            <a:spLocks noGrp="1"/>
          </p:cNvSpPr>
          <p:nvPr>
            <p:ph type="pic" idx="21"/>
          </p:nvPr>
        </p:nvSpPr>
        <p:spPr>
          <a:xfrm>
            <a:off x="10972800" y="-203200"/>
            <a:ext cx="12144837" cy="14135100"/>
          </a:xfrm>
          <a:prstGeom prst="rect">
            <a:avLst/>
          </a:prstGeom>
        </p:spPr>
        <p:txBody>
          <a:bodyPr lIns="91439" tIns="45719" rIns="91439" bIns="45719" numCol="1" spcCol="38100">
            <a:noAutofit/>
          </a:bodyPr>
          <a:lstStyle/>
          <a:p>
            <a:endParaRPr/>
          </a:p>
        </p:txBody>
      </p:sp>
      <p:sp>
        <p:nvSpPr>
          <p:cNvPr id="33" name="Slide Title"/>
          <p:cNvSpPr txBox="1">
            <a:spLocks noGrp="1"/>
          </p:cNvSpPr>
          <p:nvPr>
            <p:ph type="title" hasCustomPrompt="1"/>
          </p:nvPr>
        </p:nvSpPr>
        <p:spPr>
          <a:xfrm>
            <a:off x="1206500" y="1270000"/>
            <a:ext cx="9779000" cy="5882274"/>
          </a:xfrm>
          <a:prstGeom prst="rect">
            <a:avLst/>
          </a:prstGeom>
        </p:spPr>
        <p:txBody>
          <a:bodyPr anchor="b"/>
          <a:lstStyle/>
          <a:p>
            <a:r>
              <a:t>Slide Title</a:t>
            </a:r>
          </a:p>
        </p:txBody>
      </p:sp>
      <p:sp>
        <p:nvSpPr>
          <p:cNvPr id="34" name="Body Level One…"/>
          <p:cNvSpPr txBox="1">
            <a:spLocks noGrp="1"/>
          </p:cNvSpPr>
          <p:nvPr>
            <p:ph type="body" sz="quarter" idx="1" hasCustomPrompt="1"/>
          </p:nvPr>
        </p:nvSpPr>
        <p:spPr>
          <a:xfrm>
            <a:off x="1206500" y="7060576"/>
            <a:ext cx="9779000" cy="5385424"/>
          </a:xfrm>
          <a:prstGeom prst="rect">
            <a:avLst/>
          </a:prstGeom>
        </p:spPr>
        <p:txBody>
          <a:bodyPr numCol="1" spcCol="38100"/>
          <a:lstStyle>
            <a:lvl1pPr marL="0" indent="0" defTabSz="825500">
              <a:lnSpc>
                <a:spcPct val="100000"/>
              </a:lnSpc>
              <a:spcBef>
                <a:spcPts val="0"/>
              </a:spcBef>
              <a:buSzTx/>
              <a:buNone/>
              <a:defRPr sz="5500" b="1"/>
            </a:lvl1pPr>
            <a:lvl2pPr marL="0" indent="0" defTabSz="825500">
              <a:lnSpc>
                <a:spcPct val="100000"/>
              </a:lnSpc>
              <a:spcBef>
                <a:spcPts val="0"/>
              </a:spcBef>
              <a:buSzTx/>
              <a:buNone/>
              <a:defRPr sz="5500" b="1"/>
            </a:lvl2pPr>
            <a:lvl3pPr marL="0" indent="0" defTabSz="825500">
              <a:lnSpc>
                <a:spcPct val="100000"/>
              </a:lnSpc>
              <a:spcBef>
                <a:spcPts val="0"/>
              </a:spcBef>
              <a:buSzTx/>
              <a:buNone/>
              <a:defRPr sz="5500" b="1"/>
            </a:lvl3pPr>
            <a:lvl4pPr marL="0" indent="0" defTabSz="825500">
              <a:lnSpc>
                <a:spcPct val="100000"/>
              </a:lnSpc>
              <a:spcBef>
                <a:spcPts val="0"/>
              </a:spcBef>
              <a:buSzTx/>
              <a:buNone/>
              <a:defRPr sz="5500" b="1"/>
            </a:lvl4pPr>
            <a:lvl5pPr marL="0" indent="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xfrm>
            <a:off x="1206500" y="1079500"/>
            <a:ext cx="21971000" cy="1433164"/>
          </a:xfrm>
          <a:prstGeom prst="rect">
            <a:avLst/>
          </a:prstGeom>
        </p:spPr>
        <p:txBody>
          <a:bodyPr/>
          <a:lstStyle/>
          <a:p>
            <a:r>
              <a:t>Slide Title</a:t>
            </a:r>
          </a:p>
        </p:txBody>
      </p:sp>
      <p:sp>
        <p:nvSpPr>
          <p:cNvPr id="43" name="Body Level One…"/>
          <p:cNvSpPr txBox="1">
            <a:spLocks noGrp="1"/>
          </p:cNvSpPr>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Slide Subtitle</a:t>
            </a:r>
          </a:p>
          <a:p>
            <a:pPr lvl="1"/>
            <a:endParaRPr/>
          </a:p>
          <a:p>
            <a:pPr lvl="2"/>
            <a:endParaRPr/>
          </a:p>
          <a:p>
            <a:pPr lvl="3"/>
            <a:endParaRPr/>
          </a:p>
          <a:p>
            <a:pPr lvl="4"/>
            <a:endParaRPr/>
          </a:p>
        </p:txBody>
      </p:sp>
      <p:sp>
        <p:nvSpPr>
          <p:cNvPr id="44" name="Body Level One…"/>
          <p:cNvSpPr txBox="1">
            <a:spLocks noGrp="1"/>
          </p:cNvSpPr>
          <p:nvPr>
            <p:ph type="body" idx="21" hasCustomPrompt="1"/>
          </p:nvPr>
        </p:nvSpPr>
        <p:spPr>
          <a:prstGeom prst="rect">
            <a:avLst/>
          </a:prstGeom>
        </p:spPr>
        <p:txBody>
          <a:bodyPr numCol="1" spcCol="38100"/>
          <a:lstStyle/>
          <a:p>
            <a:r>
              <a:t>Slide bullet text</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Body Level One…"/>
          <p:cNvSpPr txBox="1">
            <a:spLocks noGrp="1"/>
          </p:cNvSpPr>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Slide Subtitle</a:t>
            </a:r>
          </a:p>
          <a:p>
            <a:pPr lvl="1"/>
            <a:endParaRPr/>
          </a:p>
          <a:p>
            <a:pPr lvl="2"/>
            <a:endParaRPr/>
          </a:p>
          <a:p>
            <a:pPr lvl="3"/>
            <a:endParaRPr/>
          </a:p>
          <a:p>
            <a:pPr lvl="4"/>
            <a:endParaRPr/>
          </a:p>
        </p:txBody>
      </p:sp>
      <p:sp>
        <p:nvSpPr>
          <p:cNvPr id="61" name="Body Level One…"/>
          <p:cNvSpPr txBox="1">
            <a:spLocks noGrp="1"/>
          </p:cNvSpPr>
          <p:nvPr>
            <p:ph type="body" sz="half" idx="21" hasCustomPrompt="1"/>
          </p:nvPr>
        </p:nvSpPr>
        <p:spPr>
          <a:xfrm>
            <a:off x="1206500" y="4248503"/>
            <a:ext cx="9779000" cy="8256631"/>
          </a:xfrm>
          <a:prstGeom prst="rect">
            <a:avLst/>
          </a:prstGeom>
        </p:spPr>
        <p:txBody>
          <a:bodyPr numCol="1" spcCol="38100"/>
          <a:lstStyle/>
          <a:p>
            <a:r>
              <a:t>Slide bullet text</a:t>
            </a:r>
          </a:p>
        </p:txBody>
      </p:sp>
      <p:sp>
        <p:nvSpPr>
          <p:cNvPr id="62" name="Bowl of pappardelle pasta with parsley butter, roasted hazelnuts, and shaved parmesan cheese"/>
          <p:cNvSpPr>
            <a:spLocks noGrp="1"/>
          </p:cNvSpPr>
          <p:nvPr>
            <p:ph type="pic" idx="22"/>
          </p:nvPr>
        </p:nvSpPr>
        <p:spPr>
          <a:xfrm>
            <a:off x="12192000" y="-407266"/>
            <a:ext cx="10916874" cy="14555833"/>
          </a:xfrm>
          <a:prstGeom prst="rect">
            <a:avLst/>
          </a:prstGeom>
        </p:spPr>
        <p:txBody>
          <a:bodyPr lIns="91439" tIns="45719" rIns="91439" bIns="45719" numCol="1" spcCol="38100">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Body Level One…"/>
          <p:cNvSpPr txBox="1">
            <a:spLocks noGrp="1"/>
          </p:cNvSpPr>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Slide Subtitle</a:t>
            </a:r>
          </a:p>
          <a:p>
            <a:pPr lvl="1"/>
            <a:endParaRPr/>
          </a:p>
          <a:p>
            <a:pPr lvl="2"/>
            <a:endParaRPr/>
          </a:p>
          <a:p>
            <a:pPr lvl="3"/>
            <a:endParaRPr/>
          </a:p>
          <a:p>
            <a:pPr lvl="4"/>
            <a:endParaRPr/>
          </a:p>
        </p:txBody>
      </p:sp>
      <p:sp>
        <p:nvSpPr>
          <p:cNvPr id="72" name="Body Level One…"/>
          <p:cNvSpPr txBox="1">
            <a:spLocks noGrp="1"/>
          </p:cNvSpPr>
          <p:nvPr>
            <p:ph type="body" sz="half" idx="21" hasCustomPrompt="1"/>
          </p:nvPr>
        </p:nvSpPr>
        <p:spPr>
          <a:xfrm>
            <a:off x="1206500" y="4248503"/>
            <a:ext cx="9779000" cy="8256631"/>
          </a:xfrm>
          <a:prstGeom prst="rect">
            <a:avLst/>
          </a:prstGeom>
        </p:spPr>
        <p:txBody>
          <a:bodyPr numCol="1" spcCol="38100"/>
          <a:lstStyle/>
          <a:p>
            <a:r>
              <a:t>Slide bullet text</a:t>
            </a:r>
          </a:p>
        </p:txBody>
      </p:sp>
      <p:sp>
        <p:nvSpPr>
          <p:cNvPr id="7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Body Level One…"/>
          <p:cNvSpPr txBox="1">
            <a:spLocks noGrp="1"/>
          </p:cNvSpPr>
          <p:nvPr>
            <p:ph type="body" sz="quarter" idx="1" hasCustomPrompt="1"/>
          </p:nvPr>
        </p:nvSpPr>
        <p:spPr>
          <a:xfrm>
            <a:off x="1206500" y="2372961"/>
            <a:ext cx="9779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Slide Subtitle</a:t>
            </a:r>
          </a:p>
          <a:p>
            <a:pPr lvl="1"/>
            <a:endParaRPr/>
          </a:p>
          <a:p>
            <a:pPr lvl="2"/>
            <a:endParaRPr/>
          </a:p>
          <a:p>
            <a:pPr lvl="3"/>
            <a:endParaRPr/>
          </a:p>
          <a:p>
            <a:pPr lvl="4"/>
            <a:endParaRPr/>
          </a:p>
        </p:txBody>
      </p:sp>
      <p:sp>
        <p:nvSpPr>
          <p:cNvPr id="82" name="Body Level One…"/>
          <p:cNvSpPr txBox="1">
            <a:spLocks noGrp="1"/>
          </p:cNvSpPr>
          <p:nvPr>
            <p:ph type="body" sz="half" idx="21" hasCustomPrompt="1"/>
          </p:nvPr>
        </p:nvSpPr>
        <p:spPr>
          <a:xfrm>
            <a:off x="1206500" y="4248503"/>
            <a:ext cx="9779000" cy="8256631"/>
          </a:xfrm>
          <a:prstGeom prst="rect">
            <a:avLst/>
          </a:prstGeom>
        </p:spPr>
        <p:txBody>
          <a:bodyPr numCol="1" spcCol="38100"/>
          <a:lstStyle/>
          <a:p>
            <a:r>
              <a:t>Slide bullet text</a:t>
            </a:r>
          </a:p>
        </p:txBody>
      </p:sp>
      <p:sp>
        <p:nvSpPr>
          <p:cNvPr id="8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1206496" y="4533900"/>
            <a:ext cx="21971005"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xfrm>
            <a:off x="1206500" y="1079500"/>
            <a:ext cx="21971000" cy="1434950"/>
          </a:xfrm>
          <a:prstGeom prst="rect">
            <a:avLst/>
          </a:prstGeom>
        </p:spPr>
        <p:txBody>
          <a:bodyPr/>
          <a:lstStyle/>
          <a:p>
            <a:r>
              <a:t>Slide Title</a:t>
            </a:r>
          </a:p>
        </p:txBody>
      </p:sp>
      <p:sp>
        <p:nvSpPr>
          <p:cNvPr id="100" name="Body Level One…"/>
          <p:cNvSpPr txBox="1">
            <a:spLocks noGrp="1"/>
          </p:cNvSpPr>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Slide Subtitle</a:t>
            </a:r>
          </a:p>
          <a:p>
            <a:pPr lvl="1"/>
            <a:endParaRPr/>
          </a:p>
          <a:p>
            <a:pPr lvl="2"/>
            <a:endParaRPr/>
          </a:p>
          <a:p>
            <a:pPr lvl="3"/>
            <a:endParaRPr/>
          </a:p>
          <a:p>
            <a:pPr lvl="4"/>
            <a:endParaRP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109" name="Body Level One…"/>
          <p:cNvSpPr txBox="1">
            <a:spLocks noGrp="1"/>
          </p:cNvSpPr>
          <p:nvPr>
            <p:ph type="body" sz="quarter" idx="1" hasCustomPrompt="1"/>
          </p:nvPr>
        </p:nvSpPr>
        <p:spPr>
          <a:xfrm>
            <a:off x="1206500" y="2372961"/>
            <a:ext cx="21971000" cy="934781"/>
          </a:xfrm>
          <a:prstGeom prst="rect">
            <a:avLst/>
          </a:prstGeom>
        </p:spPr>
        <p:txBody>
          <a:bodyPr lIns="45718" tIns="45718" rIns="45718" bIns="45718" numCol="1" spcCol="38100"/>
          <a:lstStyle>
            <a:lvl1pPr marL="0" indent="0" defTabSz="825500">
              <a:lnSpc>
                <a:spcPct val="100000"/>
              </a:lnSpc>
              <a:spcBef>
                <a:spcPts val="0"/>
              </a:spcBef>
              <a:buSzTx/>
              <a:buNone/>
              <a:defRPr sz="5500" b="1"/>
            </a:lvl1pPr>
            <a:lvl2pPr marL="1308100" indent="-698500" defTabSz="825500">
              <a:lnSpc>
                <a:spcPct val="100000"/>
              </a:lnSpc>
              <a:spcBef>
                <a:spcPts val="0"/>
              </a:spcBef>
              <a:defRPr sz="5500" b="1"/>
            </a:lvl2pPr>
            <a:lvl3pPr marL="1917700" indent="-698500" defTabSz="825500">
              <a:lnSpc>
                <a:spcPct val="100000"/>
              </a:lnSpc>
              <a:spcBef>
                <a:spcPts val="0"/>
              </a:spcBef>
              <a:defRPr sz="5500" b="1"/>
            </a:lvl3pPr>
            <a:lvl4pPr marL="2527300" indent="-698500" defTabSz="825500">
              <a:lnSpc>
                <a:spcPct val="100000"/>
              </a:lnSpc>
              <a:spcBef>
                <a:spcPts val="0"/>
              </a:spcBef>
              <a:defRPr sz="5500" b="1"/>
            </a:lvl4pPr>
            <a:lvl5pPr marL="3136900" indent="-698500" defTabSz="825500">
              <a:lnSpc>
                <a:spcPct val="100000"/>
              </a:lnSpc>
              <a:spcBef>
                <a:spcPts val="0"/>
              </a:spcBef>
              <a:defRPr sz="5500" b="1"/>
            </a:lvl5pPr>
          </a:lstStyle>
          <a:p>
            <a:r>
              <a:t>Agenda Subtitle</a:t>
            </a:r>
          </a:p>
          <a:p>
            <a:pPr lvl="1"/>
            <a:endParaRPr/>
          </a:p>
          <a:p>
            <a:pPr lvl="2"/>
            <a:endParaRPr/>
          </a:p>
          <a:p>
            <a:pPr lvl="3"/>
            <a:endParaRPr/>
          </a:p>
          <a:p>
            <a:pPr lvl="4"/>
            <a:endParaRPr/>
          </a:p>
        </p:txBody>
      </p:sp>
      <p:sp>
        <p:nvSpPr>
          <p:cNvPr id="110" name="Body Level One…"/>
          <p:cNvSpPr txBox="1">
            <a:spLocks noGrp="1"/>
          </p:cNvSpPr>
          <p:nvPr>
            <p:ph type="body" idx="21" hasCustomPrompt="1"/>
          </p:nvPr>
        </p:nvSpPr>
        <p:spPr>
          <a:prstGeom prst="rect">
            <a:avLst/>
          </a:prstGeom>
        </p:spPr>
        <p:txBody>
          <a:bodyPr numCol="1" spcCol="38100"/>
          <a:lstStyle>
            <a:lvl1pPr marL="0" indent="0" defTabSz="825500">
              <a:lnSpc>
                <a:spcPct val="100000"/>
              </a:lnSpc>
              <a:spcBef>
                <a:spcPts val="1800"/>
              </a:spcBef>
              <a:buSzTx/>
              <a:buNone/>
              <a:defRPr sz="5500" spc="-99"/>
            </a:lvl1pPr>
          </a:lstStyle>
          <a:p>
            <a:r>
              <a:t>Agenda Topics</a:t>
            </a: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1206500" y="4920843"/>
            <a:ext cx="21971000" cy="3874314"/>
          </a:xfrm>
          <a:prstGeom prst="rect">
            <a:avLst/>
          </a:prstGeom>
        </p:spPr>
        <p:txBody>
          <a:bodyPr numCol="1" spcCol="38100"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Body Level One…"/>
          <p:cNvSpPr txBox="1">
            <a:spLocks noGrp="1"/>
          </p:cNvSpPr>
          <p:nvPr>
            <p:ph type="body" idx="1" hasCustomPrompt="1"/>
          </p:nvPr>
        </p:nvSpPr>
        <p:spPr>
          <a:xfrm>
            <a:off x="1206500" y="1075926"/>
            <a:ext cx="21971000" cy="7241586"/>
          </a:xfrm>
          <a:prstGeom prst="rect">
            <a:avLst/>
          </a:prstGeom>
        </p:spPr>
        <p:txBody>
          <a:bodyPr numCol="1" spcCol="38100" anchor="b"/>
          <a:lstStyle>
            <a:lvl1pPr marL="0" indent="0" algn="ctr">
              <a:lnSpc>
                <a:spcPct val="80000"/>
              </a:lnSpc>
              <a:spcBef>
                <a:spcPts val="0"/>
              </a:spcBef>
              <a:buSzTx/>
              <a:buNone/>
              <a:defRPr sz="25000" b="1" spc="-250"/>
            </a:lvl1pPr>
            <a:lvl2pPr marL="0" indent="0" algn="ctr">
              <a:lnSpc>
                <a:spcPct val="80000"/>
              </a:lnSpc>
              <a:spcBef>
                <a:spcPts val="0"/>
              </a:spcBef>
              <a:buSzTx/>
              <a:buNone/>
              <a:defRPr sz="25000" b="1" spc="-250"/>
            </a:lvl2pPr>
            <a:lvl3pPr marL="0" indent="0" algn="ctr">
              <a:lnSpc>
                <a:spcPct val="80000"/>
              </a:lnSpc>
              <a:spcBef>
                <a:spcPts val="0"/>
              </a:spcBef>
              <a:buSzTx/>
              <a:buNone/>
              <a:defRPr sz="25000" b="1" spc="-250"/>
            </a:lvl3pPr>
            <a:lvl4pPr marL="0" indent="0" algn="ctr">
              <a:lnSpc>
                <a:spcPct val="80000"/>
              </a:lnSpc>
              <a:spcBef>
                <a:spcPts val="0"/>
              </a:spcBef>
              <a:buSzTx/>
              <a:buNone/>
              <a:defRPr sz="25000" b="1" spc="-250"/>
            </a:lvl4pPr>
            <a:lvl5pPr marL="0" indent="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27" name="Fact information"/>
          <p:cNvSpPr txBox="1">
            <a:spLocks noGrp="1"/>
          </p:cNvSpPr>
          <p:nvPr>
            <p:ph type="body" sz="quarter" idx="21" hasCustomPrompt="1"/>
          </p:nvPr>
        </p:nvSpPr>
        <p:spPr>
          <a:xfrm>
            <a:off x="1206500" y="8262180"/>
            <a:ext cx="21971000" cy="934780"/>
          </a:xfrm>
          <a:prstGeom prst="rect">
            <a:avLst/>
          </a:prstGeom>
        </p:spPr>
        <p:txBody>
          <a:bodyPr lIns="45718" tIns="45718" rIns="45718" bIns="45718" numCol="1" spcCol="38100"/>
          <a:lstStyle>
            <a:lvl1pPr marL="0" indent="0" algn="ctr" defTabSz="825500">
              <a:lnSpc>
                <a:spcPct val="100000"/>
              </a:lnSpc>
              <a:spcBef>
                <a:spcPts val="0"/>
              </a:spcBef>
              <a:buSzTx/>
              <a:buNone/>
              <a:defRPr sz="5500" b="1"/>
            </a:lvl1pPr>
          </a:lstStyle>
          <a:p>
            <a:r>
              <a:t>Fact information</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Body Level One…"/>
          <p:cNvSpPr txBox="1">
            <a:spLocks noGrp="1"/>
          </p:cNvSpPr>
          <p:nvPr>
            <p:ph type="body" sz="quarter" idx="1" hasCustomPrompt="1"/>
          </p:nvPr>
        </p:nvSpPr>
        <p:spPr>
          <a:xfrm>
            <a:off x="2430024" y="10675453"/>
            <a:ext cx="20200054" cy="636980"/>
          </a:xfrm>
          <a:prstGeom prst="rect">
            <a:avLst/>
          </a:prstGeom>
        </p:spPr>
        <p:txBody>
          <a:bodyPr lIns="45718" tIns="45718" rIns="45718" bIns="45718" numCol="1" spcCol="38100"/>
          <a:lstStyle>
            <a:lvl1pPr marL="0" indent="0" defTabSz="825500">
              <a:lnSpc>
                <a:spcPct val="100000"/>
              </a:lnSpc>
              <a:spcBef>
                <a:spcPts val="0"/>
              </a:spcBef>
              <a:buSzTx/>
              <a:buNone/>
              <a:defRPr sz="3600" b="1"/>
            </a:lvl1pPr>
            <a:lvl2pPr marL="1066800" indent="-457200" defTabSz="825500">
              <a:lnSpc>
                <a:spcPct val="100000"/>
              </a:lnSpc>
              <a:spcBef>
                <a:spcPts val="0"/>
              </a:spcBef>
              <a:defRPr sz="3600" b="1"/>
            </a:lvl2pPr>
            <a:lvl3pPr marL="1676400" indent="-457200" defTabSz="825500">
              <a:lnSpc>
                <a:spcPct val="100000"/>
              </a:lnSpc>
              <a:spcBef>
                <a:spcPts val="0"/>
              </a:spcBef>
              <a:defRPr sz="3600" b="1"/>
            </a:lvl3pPr>
            <a:lvl4pPr marL="2286000" indent="-457200" defTabSz="825500">
              <a:lnSpc>
                <a:spcPct val="100000"/>
              </a:lnSpc>
              <a:spcBef>
                <a:spcPts val="0"/>
              </a:spcBef>
              <a:defRPr sz="3600" b="1"/>
            </a:lvl4pPr>
            <a:lvl5pPr marL="2895600" indent="-457200" defTabSz="825500">
              <a:lnSpc>
                <a:spcPct val="100000"/>
              </a:lnSpc>
              <a:spcBef>
                <a:spcPts val="0"/>
              </a:spcBef>
              <a:defRPr sz="3600" b="1"/>
            </a:lvl5pPr>
          </a:lstStyle>
          <a:p>
            <a:r>
              <a:t>Attribution</a:t>
            </a:r>
          </a:p>
          <a:p>
            <a:pPr lvl="1"/>
            <a:endParaRPr/>
          </a:p>
          <a:p>
            <a:pPr lvl="2"/>
            <a:endParaRPr/>
          </a:p>
          <a:p>
            <a:pPr lvl="3"/>
            <a:endParaRPr/>
          </a:p>
          <a:p>
            <a:pPr lvl="4"/>
            <a:endParaRPr/>
          </a:p>
        </p:txBody>
      </p:sp>
      <p:sp>
        <p:nvSpPr>
          <p:cNvPr id="136" name="Body Level One…"/>
          <p:cNvSpPr txBox="1">
            <a:spLocks noGrp="1"/>
          </p:cNvSpPr>
          <p:nvPr>
            <p:ph type="body" sz="half" idx="21" hasCustomPrompt="1"/>
          </p:nvPr>
        </p:nvSpPr>
        <p:spPr>
          <a:xfrm>
            <a:off x="1753923" y="4939860"/>
            <a:ext cx="20876154" cy="3836281"/>
          </a:xfrm>
          <a:prstGeom prst="rect">
            <a:avLst/>
          </a:prstGeom>
        </p:spPr>
        <p:txBody>
          <a:bodyPr numCol="1" spcCol="38100"/>
          <a:lstStyle>
            <a:lvl1pPr marL="469900" indent="-300876">
              <a:spcBef>
                <a:spcPts val="0"/>
              </a:spcBef>
              <a:buSzTx/>
              <a:buNone/>
              <a:defRPr sz="8500" spc="-200">
                <a:latin typeface="Helvetica Neue Medium"/>
                <a:ea typeface="Helvetica Neue Medium"/>
                <a:cs typeface="Helvetica Neue Medium"/>
                <a:sym typeface="Helvetica Neue Medium"/>
              </a:defRPr>
            </a:lvl1pPr>
          </a:lstStyle>
          <a:p>
            <a:r>
              <a:t>“Notable Quote”</a:t>
            </a: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numCol="1" spcCol="38100">
            <a:noAutofit/>
          </a:bodyPr>
          <a:lstStyle/>
          <a:p>
            <a:endParaRPr/>
          </a:p>
        </p:txBody>
      </p:sp>
      <p:sp>
        <p:nvSpPr>
          <p:cNvPr id="145" name="Bowl with salmon cakes, salad, and hummus "/>
          <p:cNvSpPr>
            <a:spLocks noGrp="1"/>
          </p:cNvSpPr>
          <p:nvPr>
            <p:ph type="pic" sz="half" idx="22"/>
          </p:nvPr>
        </p:nvSpPr>
        <p:spPr>
          <a:xfrm>
            <a:off x="13500100" y="3978275"/>
            <a:ext cx="10439400" cy="12150181"/>
          </a:xfrm>
          <a:prstGeom prst="rect">
            <a:avLst/>
          </a:prstGeom>
        </p:spPr>
        <p:txBody>
          <a:bodyPr lIns="91439" tIns="45719" rIns="91439" bIns="45719" numCol="1" spcCol="38100">
            <a:noAutofit/>
          </a:bodyPr>
          <a:lstStyle/>
          <a:p>
            <a:endParaRPr/>
          </a:p>
        </p:txBody>
      </p:sp>
      <p:sp>
        <p:nvSpPr>
          <p:cNvPr id="14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numCol="1" spcCol="38100">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numCol="1" spcCol="38100">
            <a:noAutofit/>
          </a:bodyPr>
          <a:lstStyle/>
          <a:p>
            <a:endParaRPr/>
          </a:p>
        </p:txBody>
      </p:sp>
      <p:sp>
        <p:nvSpPr>
          <p:cNvPr id="155"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hasCustomPrompt="1"/>
          </p:nvPr>
        </p:nvSpPr>
        <p:spPr>
          <a:xfrm>
            <a:off x="1206500" y="4248503"/>
            <a:ext cx="21971000" cy="825601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numCol="2" spcCol="1098550">
            <a:normAutofit/>
          </a:bodyPr>
          <a:lstStyle/>
          <a:p>
            <a:r>
              <a:t>Slide bullet text</a:t>
            </a:r>
          </a:p>
          <a:p>
            <a:pPr lvl="1"/>
            <a:endParaRPr/>
          </a:p>
          <a:p>
            <a:pPr lvl="2"/>
            <a:endParaRPr/>
          </a:p>
          <a:p>
            <a:pPr lvl="3"/>
            <a:endParaRPr/>
          </a:p>
          <a:p>
            <a:pPr lvl="4"/>
            <a:endParaRPr/>
          </a:p>
        </p:txBody>
      </p:sp>
      <p:sp>
        <p:nvSpPr>
          <p:cNvPr id="3" name="Title Text"/>
          <p:cNvSpPr txBox="1">
            <a:spLocks noGrp="1"/>
          </p:cNvSpPr>
          <p:nvPr>
            <p:ph type="title"/>
          </p:nvPr>
        </p:nvSpPr>
        <p:spPr>
          <a:xfrm>
            <a:off x="3653366" y="2743200"/>
            <a:ext cx="19507201" cy="15053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Title Text</a:t>
            </a: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1pPr>
      <a:lvl2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0" algn="l" defTabSz="2438337" rtl="0" latinLnBrk="0">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7"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71" name="Advisor: Prof.PhD. Hoang Van Dung"/>
          <p:cNvSpPr txBox="1">
            <a:spLocks noGrp="1"/>
          </p:cNvSpPr>
          <p:nvPr>
            <p:ph type="body" sz="quarter" idx="1"/>
          </p:nvPr>
        </p:nvSpPr>
        <p:spPr>
          <a:xfrm>
            <a:off x="1201341" y="11859862"/>
            <a:ext cx="21971002" cy="636980"/>
          </a:xfrm>
          <a:prstGeom prst="rect">
            <a:avLst/>
          </a:prstGeom>
        </p:spPr>
        <p:txBody>
          <a:bodyPr/>
          <a:lstStyle>
            <a:lvl1pPr>
              <a:lnSpc>
                <a:spcPct val="90000"/>
              </a:lnSpc>
            </a:lvl1pPr>
          </a:lstStyle>
          <a:p>
            <a:r>
              <a:rPr dirty="0"/>
              <a:t>Advisor: PhD. </a:t>
            </a:r>
            <a:r>
              <a:rPr lang="en-US" dirty="0"/>
              <a:t>Phan Thị </a:t>
            </a:r>
            <a:r>
              <a:rPr lang="en-US" dirty="0" err="1"/>
              <a:t>Huyền</a:t>
            </a:r>
            <a:r>
              <a:rPr lang="en-US" dirty="0"/>
              <a:t> Trang</a:t>
            </a:r>
            <a:endParaRPr dirty="0"/>
          </a:p>
        </p:txBody>
      </p:sp>
      <p:sp>
        <p:nvSpPr>
          <p:cNvPr id="172" name="SIFT và ứng dụng"/>
          <p:cNvSpPr txBox="1">
            <a:spLocks noGrp="1"/>
          </p:cNvSpPr>
          <p:nvPr>
            <p:ph type="title"/>
          </p:nvPr>
        </p:nvSpPr>
        <p:spPr>
          <a:xfrm>
            <a:off x="1206495" y="2248421"/>
            <a:ext cx="21971006" cy="6536352"/>
          </a:xfrm>
          <a:prstGeom prst="rect">
            <a:avLst/>
          </a:prstGeom>
        </p:spPr>
        <p:txBody>
          <a:bodyPr>
            <a:normAutofit/>
          </a:bodyPr>
          <a:lstStyle/>
          <a:p>
            <a:pPr algn="ctr">
              <a:defRPr sz="9600" spc="-300">
                <a:solidFill>
                  <a:srgbClr val="0070C0"/>
                </a:solidFill>
                <a:latin typeface="Times Roman"/>
                <a:ea typeface="Times Roman"/>
                <a:cs typeface="Times Roman"/>
                <a:sym typeface="Times Roman"/>
              </a:defRPr>
            </a:pPr>
            <a:br>
              <a:rPr lang="vi-VN" sz="11500" dirty="0"/>
            </a:br>
            <a:r>
              <a:rPr lang="vi-VN" sz="11500" dirty="0"/>
              <a:t>GIẢI THUẬT NÂNG CAO</a:t>
            </a:r>
            <a:br>
              <a:rPr lang="vi-VN" sz="11500" dirty="0"/>
            </a:br>
            <a:r>
              <a:rPr lang="vi-VN" sz="11500" dirty="0"/>
              <a:t>Hệ thống lập kế hoạch </a:t>
            </a:r>
            <a:br>
              <a:rPr lang="vi-VN" sz="11500" dirty="0"/>
            </a:br>
            <a:r>
              <a:rPr lang="vi-VN" sz="11500" dirty="0"/>
              <a:t>lộ trình du lịch tối ưu</a:t>
            </a:r>
            <a:endParaRPr sz="11500" dirty="0">
              <a:latin typeface="Times New Roman" panose="02020603050405020304" pitchFamily="18" charset="0"/>
              <a:cs typeface="Times New Roman" panose="02020603050405020304" pitchFamily="18" charset="0"/>
            </a:endParaRPr>
          </a:p>
        </p:txBody>
      </p:sp>
      <p:pic>
        <p:nvPicPr>
          <p:cNvPr id="173" name="pasted-movie.png" descr="pasted-movie.png"/>
          <p:cNvPicPr>
            <a:picLocks noChangeAspect="1"/>
          </p:cNvPicPr>
          <p:nvPr/>
        </p:nvPicPr>
        <p:blipFill>
          <a:blip r:embed="rId3"/>
          <a:stretch>
            <a:fillRect/>
          </a:stretch>
        </p:blipFill>
        <p:spPr>
          <a:xfrm>
            <a:off x="202485" y="293282"/>
            <a:ext cx="6502401" cy="1460502"/>
          </a:xfrm>
          <a:prstGeom prst="rect">
            <a:avLst/>
          </a:prstGeom>
          <a:ln w="12700">
            <a:miter lim="400000"/>
          </a:ln>
        </p:spPr>
      </p:pic>
      <p:sp>
        <p:nvSpPr>
          <p:cNvPr id="174" name="Student: Truong Nguyễn Quang Duy…"/>
          <p:cNvSpPr txBox="1"/>
          <p:nvPr/>
        </p:nvSpPr>
        <p:spPr>
          <a:xfrm>
            <a:off x="14429812" y="11556049"/>
            <a:ext cx="9423061" cy="17647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p>
            <a:pPr defTabSz="825500">
              <a:lnSpc>
                <a:spcPct val="100000"/>
              </a:lnSpc>
              <a:spcBef>
                <a:spcPts val="0"/>
              </a:spcBef>
              <a:defRPr sz="3600" b="1"/>
            </a:pPr>
            <a:r>
              <a:t>Student: Truong Nguyễn Quang Duy</a:t>
            </a:r>
          </a:p>
          <a:p>
            <a:pPr lvl="4" indent="1828800" defTabSz="825500">
              <a:lnSpc>
                <a:spcPct val="100000"/>
              </a:lnSpc>
              <a:spcBef>
                <a:spcPts val="0"/>
              </a:spcBef>
              <a:defRPr sz="3600" b="1"/>
            </a:pPr>
            <a:r>
              <a:t> Nguyen Phan Hoang Son</a:t>
            </a:r>
          </a:p>
          <a:p>
            <a:pPr lvl="4" indent="1828800" defTabSz="825500">
              <a:lnSpc>
                <a:spcPct val="100000"/>
              </a:lnSpc>
              <a:spcBef>
                <a:spcPts val="0"/>
              </a:spcBef>
              <a:defRPr sz="3600" b="1"/>
            </a:pPr>
            <a:r>
              <a:t> Tran Nhu Thuan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176" name="Slide Title"/>
          <p:cNvSpPr txBox="1">
            <a:spLocks noGrp="1"/>
          </p:cNvSpPr>
          <p:nvPr>
            <p:ph type="title"/>
          </p:nvPr>
        </p:nvSpPr>
        <p:spPr>
          <a:prstGeom prst="rect">
            <a:avLst/>
          </a:prstGeom>
        </p:spPr>
        <p:txBody>
          <a:bodyPr/>
          <a:lstStyle/>
          <a:p>
            <a:pPr>
              <a:defRPr spc="-200">
                <a:solidFill>
                  <a:srgbClr val="0070C0"/>
                </a:solidFill>
                <a:latin typeface="Times New Roman"/>
                <a:ea typeface="Times New Roman"/>
                <a:cs typeface="Times New Roman"/>
                <a:sym typeface="Times New Roman"/>
              </a:defRPr>
            </a:pPr>
            <a:r>
              <a:rPr lang="en-US" dirty="0" err="1"/>
              <a:t>Mục</a:t>
            </a:r>
            <a:r>
              <a:rPr lang="en-US" dirty="0"/>
              <a:t> </a:t>
            </a:r>
            <a:r>
              <a:rPr lang="en-US" dirty="0" err="1"/>
              <a:t>tiêu</a:t>
            </a:r>
            <a:r>
              <a:rPr lang="en-US" dirty="0"/>
              <a:t> </a:t>
            </a:r>
            <a:r>
              <a:rPr lang="en-US" dirty="0" err="1"/>
              <a:t>và</a:t>
            </a:r>
            <a:r>
              <a:rPr lang="en-US" dirty="0"/>
              <a:t> </a:t>
            </a:r>
            <a:r>
              <a:rPr lang="en-US" dirty="0" err="1"/>
              <a:t>phạm</a:t>
            </a:r>
            <a:r>
              <a:rPr lang="en-US" dirty="0"/>
              <a:t> vi </a:t>
            </a:r>
            <a:r>
              <a:rPr lang="en-US" dirty="0" err="1"/>
              <a:t>dự</a:t>
            </a:r>
            <a:r>
              <a:rPr lang="en-US" dirty="0"/>
              <a:t> </a:t>
            </a:r>
            <a:r>
              <a:rPr lang="en-US" dirty="0" err="1"/>
              <a:t>án</a:t>
            </a:r>
            <a:endParaRPr dirty="0"/>
          </a:p>
        </p:txBody>
      </p:sp>
      <p:sp>
        <p:nvSpPr>
          <p:cNvPr id="177" name="Slide bullet text"/>
          <p:cNvSpPr txBox="1">
            <a:spLocks noGrp="1"/>
          </p:cNvSpPr>
          <p:nvPr>
            <p:ph type="body" idx="1"/>
          </p:nvPr>
        </p:nvSpPr>
        <p:spPr>
          <a:xfrm>
            <a:off x="1206498" y="2512664"/>
            <a:ext cx="23177501" cy="11203336"/>
          </a:xfrm>
          <a:prstGeom prst="rect">
            <a:avLst/>
          </a:prstGeom>
        </p:spPr>
        <p:txBody>
          <a:bodyPr lIns="50800" tIns="50800" rIns="50800" bIns="50800">
            <a:normAutofit lnSpcReduction="10000"/>
          </a:bodyPr>
          <a:lstStyle/>
          <a:p>
            <a:pPr defTabSz="2438337">
              <a:lnSpc>
                <a:spcPct val="90000"/>
              </a:lnSpc>
              <a:spcBef>
                <a:spcPts val="4500"/>
              </a:spcBef>
              <a:defRPr sz="4800" b="0"/>
            </a:pPr>
            <a:r>
              <a:rPr lang="en-US" dirty="0"/>
              <a:t>1. </a:t>
            </a:r>
            <a:r>
              <a:rPr lang="en-US" dirty="0" err="1"/>
              <a:t>Mục</a:t>
            </a:r>
            <a:r>
              <a:rPr lang="en-US" dirty="0"/>
              <a:t> </a:t>
            </a:r>
            <a:r>
              <a:rPr lang="en-US" dirty="0" err="1"/>
              <a:t>tiêu</a:t>
            </a:r>
            <a:r>
              <a:rPr lang="en-US" dirty="0"/>
              <a:t> </a:t>
            </a:r>
            <a:r>
              <a:rPr lang="en-US" dirty="0" err="1"/>
              <a:t>Dự</a:t>
            </a:r>
            <a:r>
              <a:rPr lang="en-US" dirty="0"/>
              <a:t> </a:t>
            </a:r>
            <a:r>
              <a:rPr lang="en-US" dirty="0" err="1"/>
              <a:t>án</a:t>
            </a:r>
            <a:r>
              <a:rPr lang="en-US" dirty="0"/>
              <a:t>:</a:t>
            </a:r>
          </a:p>
          <a:p>
            <a:pPr marL="685800" indent="-685800" defTabSz="2438337">
              <a:lnSpc>
                <a:spcPct val="90000"/>
              </a:lnSpc>
              <a:spcBef>
                <a:spcPts val="4500"/>
              </a:spcBef>
              <a:buFontTx/>
              <a:buChar char="-"/>
              <a:defRPr sz="4800" b="0"/>
            </a:pPr>
            <a:r>
              <a:rPr lang="en-US" dirty="0" err="1"/>
              <a:t>Tối</a:t>
            </a:r>
            <a:r>
              <a:rPr lang="en-US" dirty="0"/>
              <a:t> </a:t>
            </a:r>
            <a:r>
              <a:rPr lang="en-US" dirty="0" err="1"/>
              <a:t>ưu</a:t>
            </a:r>
            <a:r>
              <a:rPr lang="en-US" dirty="0"/>
              <a:t> </a:t>
            </a:r>
            <a:r>
              <a:rPr lang="en-US" dirty="0" err="1"/>
              <a:t>hoá</a:t>
            </a:r>
            <a:r>
              <a:rPr lang="en-US" dirty="0"/>
              <a:t> </a:t>
            </a:r>
            <a:r>
              <a:rPr lang="en-US" dirty="0" err="1"/>
              <a:t>lộ</a:t>
            </a:r>
            <a:r>
              <a:rPr lang="en-US" dirty="0"/>
              <a:t> </a:t>
            </a:r>
            <a:r>
              <a:rPr lang="en-US" dirty="0" err="1"/>
              <a:t>trình</a:t>
            </a:r>
            <a:r>
              <a:rPr lang="en-US" dirty="0"/>
              <a:t> du </a:t>
            </a:r>
            <a:r>
              <a:rPr lang="en-US" dirty="0" err="1"/>
              <a:t>lịch</a:t>
            </a:r>
            <a:r>
              <a:rPr lang="en-US" dirty="0"/>
              <a:t> </a:t>
            </a:r>
            <a:r>
              <a:rPr lang="en-US" dirty="0" err="1"/>
              <a:t>như</a:t>
            </a:r>
            <a:r>
              <a:rPr lang="en-US" dirty="0"/>
              <a:t> </a:t>
            </a:r>
            <a:r>
              <a:rPr lang="en-US" dirty="0" err="1"/>
              <a:t>ngắn</a:t>
            </a:r>
            <a:r>
              <a:rPr lang="en-US" dirty="0"/>
              <a:t> </a:t>
            </a:r>
            <a:r>
              <a:rPr lang="en-US" dirty="0" err="1"/>
              <a:t>nhất</a:t>
            </a:r>
            <a:r>
              <a:rPr lang="en-US" dirty="0"/>
              <a:t>, </a:t>
            </a:r>
            <a:r>
              <a:rPr lang="en-US" dirty="0" err="1"/>
              <a:t>nhanh</a:t>
            </a:r>
            <a:r>
              <a:rPr lang="en-US" dirty="0"/>
              <a:t> </a:t>
            </a:r>
            <a:r>
              <a:rPr lang="en-US" dirty="0" err="1"/>
              <a:t>nhất</a:t>
            </a:r>
            <a:r>
              <a:rPr lang="en-US" dirty="0"/>
              <a:t> </a:t>
            </a:r>
            <a:r>
              <a:rPr lang="en-US" dirty="0" err="1"/>
              <a:t>hoặc</a:t>
            </a:r>
            <a:r>
              <a:rPr lang="en-US" dirty="0"/>
              <a:t> </a:t>
            </a:r>
            <a:r>
              <a:rPr lang="en-US" dirty="0" err="1"/>
              <a:t>tiết</a:t>
            </a:r>
            <a:r>
              <a:rPr lang="en-US" dirty="0"/>
              <a:t> </a:t>
            </a:r>
            <a:r>
              <a:rPr lang="en-US" dirty="0" err="1"/>
              <a:t>kiệm</a:t>
            </a:r>
            <a:r>
              <a:rPr lang="en-US" dirty="0"/>
              <a:t> chi </a:t>
            </a:r>
            <a:r>
              <a:rPr lang="en-US" dirty="0" err="1"/>
              <a:t>phí</a:t>
            </a:r>
            <a:r>
              <a:rPr lang="en-US" dirty="0"/>
              <a:t> </a:t>
            </a:r>
            <a:r>
              <a:rPr lang="en-US" dirty="0" err="1"/>
              <a:t>nhất</a:t>
            </a:r>
            <a:endParaRPr lang="en-US" dirty="0"/>
          </a:p>
          <a:p>
            <a:pPr marL="685800" indent="-685800" defTabSz="2438337">
              <a:lnSpc>
                <a:spcPct val="90000"/>
              </a:lnSpc>
              <a:spcBef>
                <a:spcPts val="4500"/>
              </a:spcBef>
              <a:buFontTx/>
              <a:buChar char="-"/>
              <a:defRPr sz="4800" b="0"/>
            </a:pPr>
            <a:r>
              <a:rPr lang="en-US" dirty="0"/>
              <a:t>Cung </a:t>
            </a:r>
            <a:r>
              <a:rPr lang="en-US" dirty="0" err="1"/>
              <a:t>cấp</a:t>
            </a:r>
            <a:r>
              <a:rPr lang="en-US" dirty="0"/>
              <a:t> </a:t>
            </a:r>
            <a:r>
              <a:rPr lang="en-US" dirty="0" err="1"/>
              <a:t>cho</a:t>
            </a:r>
            <a:r>
              <a:rPr lang="en-US" dirty="0"/>
              <a:t> </a:t>
            </a:r>
            <a:r>
              <a:rPr lang="en-US" dirty="0" err="1"/>
              <a:t>khách</a:t>
            </a:r>
            <a:r>
              <a:rPr lang="en-US" dirty="0"/>
              <a:t> du </a:t>
            </a:r>
            <a:r>
              <a:rPr lang="en-US" dirty="0" err="1"/>
              <a:t>lịch</a:t>
            </a:r>
            <a:r>
              <a:rPr lang="en-US" dirty="0"/>
              <a:t> </a:t>
            </a:r>
            <a:r>
              <a:rPr lang="en-US" dirty="0" err="1"/>
              <a:t>công</a:t>
            </a:r>
            <a:r>
              <a:rPr lang="en-US" dirty="0"/>
              <a:t> </a:t>
            </a:r>
            <a:r>
              <a:rPr lang="en-US" dirty="0" err="1"/>
              <a:t>cụ</a:t>
            </a:r>
            <a:r>
              <a:rPr lang="en-US" dirty="0"/>
              <a:t> </a:t>
            </a:r>
            <a:r>
              <a:rPr lang="en-US" dirty="0" err="1"/>
              <a:t>trực</a:t>
            </a:r>
            <a:r>
              <a:rPr lang="en-US" dirty="0"/>
              <a:t> </a:t>
            </a:r>
            <a:r>
              <a:rPr lang="en-US" dirty="0" err="1"/>
              <a:t>quan</a:t>
            </a:r>
            <a:r>
              <a:rPr lang="en-US" dirty="0"/>
              <a:t> </a:t>
            </a:r>
            <a:r>
              <a:rPr lang="en-US" dirty="0" err="1"/>
              <a:t>dễ</a:t>
            </a:r>
            <a:r>
              <a:rPr lang="en-US" dirty="0"/>
              <a:t> </a:t>
            </a:r>
            <a:r>
              <a:rPr lang="en-US" dirty="0" err="1"/>
              <a:t>hình</a:t>
            </a:r>
            <a:r>
              <a:rPr lang="en-US" dirty="0"/>
              <a:t> dung</a:t>
            </a:r>
          </a:p>
          <a:p>
            <a:pPr defTabSz="2438337">
              <a:lnSpc>
                <a:spcPct val="90000"/>
              </a:lnSpc>
              <a:spcBef>
                <a:spcPts val="4500"/>
              </a:spcBef>
              <a:defRPr sz="4800" b="0"/>
            </a:pPr>
            <a:r>
              <a:rPr lang="en-US" dirty="0"/>
              <a:t>2. Phạm vi </a:t>
            </a:r>
            <a:r>
              <a:rPr lang="en-US" dirty="0" err="1"/>
              <a:t>Dự</a:t>
            </a:r>
            <a:r>
              <a:rPr lang="en-US" dirty="0"/>
              <a:t> </a:t>
            </a:r>
            <a:r>
              <a:rPr lang="en-US" dirty="0" err="1"/>
              <a:t>án</a:t>
            </a:r>
            <a:r>
              <a:rPr lang="en-US" dirty="0"/>
              <a:t>:</a:t>
            </a:r>
          </a:p>
          <a:p>
            <a:pPr marL="685800" indent="-685800" defTabSz="2438337">
              <a:lnSpc>
                <a:spcPct val="90000"/>
              </a:lnSpc>
              <a:spcBef>
                <a:spcPts val="4500"/>
              </a:spcBef>
              <a:buFontTx/>
              <a:buChar char="-"/>
              <a:defRPr sz="4800" b="0"/>
            </a:pPr>
            <a:r>
              <a:rPr lang="en-US" dirty="0" err="1"/>
              <a:t>Địa</a:t>
            </a:r>
            <a:r>
              <a:rPr lang="en-US" dirty="0"/>
              <a:t> </a:t>
            </a:r>
            <a:r>
              <a:rPr lang="en-US" dirty="0" err="1"/>
              <a:t>lý</a:t>
            </a:r>
            <a:r>
              <a:rPr lang="en-US" dirty="0"/>
              <a:t>: </a:t>
            </a:r>
            <a:r>
              <a:rPr lang="en-US" dirty="0" err="1"/>
              <a:t>Toàn</a:t>
            </a:r>
            <a:r>
              <a:rPr lang="en-US" dirty="0"/>
              <a:t> </a:t>
            </a:r>
            <a:r>
              <a:rPr lang="en-US" dirty="0" err="1"/>
              <a:t>quốc</a:t>
            </a:r>
            <a:r>
              <a:rPr lang="en-US" dirty="0"/>
              <a:t> Việt Nam, </a:t>
            </a:r>
            <a:r>
              <a:rPr lang="en-US" dirty="0" err="1"/>
              <a:t>từ</a:t>
            </a:r>
            <a:r>
              <a:rPr lang="en-US" dirty="0"/>
              <a:t> Bắc </a:t>
            </a:r>
            <a:r>
              <a:rPr lang="en-US" dirty="0" err="1"/>
              <a:t>vào</a:t>
            </a:r>
            <a:r>
              <a:rPr lang="en-US" dirty="0"/>
              <a:t> Nam; </a:t>
            </a:r>
            <a:r>
              <a:rPr lang="en-US" dirty="0" err="1"/>
              <a:t>số</a:t>
            </a:r>
            <a:r>
              <a:rPr lang="en-US" dirty="0"/>
              <a:t> </a:t>
            </a:r>
            <a:r>
              <a:rPr lang="en-US" dirty="0" err="1"/>
              <a:t>lượng</a:t>
            </a:r>
            <a:r>
              <a:rPr lang="en-US" dirty="0"/>
              <a:t> 80 </a:t>
            </a:r>
            <a:r>
              <a:rPr lang="en-US" dirty="0" err="1"/>
              <a:t>địa</a:t>
            </a:r>
            <a:r>
              <a:rPr lang="en-US" dirty="0"/>
              <a:t> </a:t>
            </a:r>
            <a:r>
              <a:rPr lang="en-US" dirty="0" err="1"/>
              <a:t>điểm</a:t>
            </a:r>
            <a:r>
              <a:rPr lang="en-US" dirty="0"/>
              <a:t> du </a:t>
            </a:r>
            <a:r>
              <a:rPr lang="en-US" dirty="0" err="1"/>
              <a:t>lịch</a:t>
            </a:r>
            <a:r>
              <a:rPr lang="en-US" dirty="0"/>
              <a:t>.</a:t>
            </a:r>
          </a:p>
          <a:p>
            <a:pPr marL="685800" indent="-685800" defTabSz="2438337">
              <a:lnSpc>
                <a:spcPct val="90000"/>
              </a:lnSpc>
              <a:spcBef>
                <a:spcPts val="4500"/>
              </a:spcBef>
              <a:buFontTx/>
              <a:buChar char="-"/>
              <a:defRPr sz="4800" b="0"/>
            </a:pPr>
            <a:r>
              <a:rPr lang="en-US" dirty="0" err="1"/>
              <a:t>Chức</a:t>
            </a:r>
            <a:r>
              <a:rPr lang="en-US" dirty="0"/>
              <a:t> </a:t>
            </a:r>
            <a:r>
              <a:rPr lang="en-US" dirty="0" err="1"/>
              <a:t>năng</a:t>
            </a:r>
            <a:r>
              <a:rPr lang="en-US" dirty="0"/>
              <a:t> </a:t>
            </a:r>
            <a:r>
              <a:rPr lang="en-US" dirty="0" err="1"/>
              <a:t>chính</a:t>
            </a:r>
            <a:r>
              <a:rPr lang="en-US" dirty="0"/>
              <a:t>: </a:t>
            </a:r>
            <a:r>
              <a:rPr lang="vi-VN" dirty="0"/>
              <a:t>Xây dựng đồ thị: nút (địa điểm) + cạnh (tuyến đường)</a:t>
            </a:r>
            <a:r>
              <a:rPr lang="en-US" dirty="0"/>
              <a:t>; </a:t>
            </a:r>
            <a:r>
              <a:rPr lang="en-US" dirty="0" err="1"/>
              <a:t>tìm</a:t>
            </a:r>
            <a:r>
              <a:rPr lang="en-US" dirty="0"/>
              <a:t> </a:t>
            </a:r>
            <a:r>
              <a:rPr lang="en-US" dirty="0" err="1"/>
              <a:t>đường</a:t>
            </a:r>
            <a:r>
              <a:rPr lang="en-US" dirty="0"/>
              <a:t> </a:t>
            </a:r>
            <a:r>
              <a:rPr lang="en-US" dirty="0" err="1"/>
              <a:t>đi</a:t>
            </a:r>
            <a:r>
              <a:rPr lang="en-US" dirty="0"/>
              <a:t> </a:t>
            </a:r>
            <a:r>
              <a:rPr lang="en-US" dirty="0" err="1"/>
              <a:t>ngắn</a:t>
            </a:r>
            <a:r>
              <a:rPr lang="en-US" dirty="0"/>
              <a:t> </a:t>
            </a:r>
            <a:r>
              <a:rPr lang="en-US" dirty="0" err="1"/>
              <a:t>nhất</a:t>
            </a:r>
            <a:r>
              <a:rPr lang="en-US" dirty="0"/>
              <a:t> (Dijkstra); </a:t>
            </a:r>
            <a:r>
              <a:rPr lang="en-US" dirty="0" err="1"/>
              <a:t>xác</a:t>
            </a:r>
            <a:r>
              <a:rPr lang="en-US" dirty="0"/>
              <a:t> </a:t>
            </a:r>
            <a:r>
              <a:rPr lang="en-US" dirty="0" err="1"/>
              <a:t>định</a:t>
            </a:r>
            <a:r>
              <a:rPr lang="en-US" dirty="0"/>
              <a:t> </a:t>
            </a:r>
            <a:r>
              <a:rPr lang="en-US" dirty="0" err="1"/>
              <a:t>mạng</a:t>
            </a:r>
            <a:r>
              <a:rPr lang="en-US" dirty="0"/>
              <a:t> </a:t>
            </a:r>
            <a:r>
              <a:rPr lang="en-US" dirty="0" err="1"/>
              <a:t>lưới</a:t>
            </a:r>
            <a:r>
              <a:rPr lang="en-US" dirty="0"/>
              <a:t> </a:t>
            </a:r>
            <a:r>
              <a:rPr lang="en-US" dirty="0" err="1"/>
              <a:t>đường</a:t>
            </a:r>
            <a:r>
              <a:rPr lang="en-US" dirty="0"/>
              <a:t> </a:t>
            </a:r>
            <a:r>
              <a:rPr lang="en-US" dirty="0" err="1"/>
              <a:t>đi</a:t>
            </a:r>
            <a:r>
              <a:rPr lang="en-US" dirty="0"/>
              <a:t> (Prim, Kruskal)</a:t>
            </a:r>
          </a:p>
          <a:p>
            <a:pPr defTabSz="2438337">
              <a:lnSpc>
                <a:spcPct val="90000"/>
              </a:lnSpc>
              <a:spcBef>
                <a:spcPts val="4500"/>
              </a:spcBef>
              <a:defRPr sz="4800" b="0"/>
            </a:pPr>
            <a:r>
              <a:rPr lang="en-US" dirty="0"/>
              <a:t>3. Công </a:t>
            </a:r>
            <a:r>
              <a:rPr lang="en-US" dirty="0" err="1"/>
              <a:t>nghệ</a:t>
            </a:r>
            <a:r>
              <a:rPr lang="en-US" dirty="0"/>
              <a:t> </a:t>
            </a:r>
            <a:r>
              <a:rPr lang="en-US" dirty="0" err="1"/>
              <a:t>và</a:t>
            </a:r>
            <a:r>
              <a:rPr lang="en-US" dirty="0"/>
              <a:t> </a:t>
            </a:r>
            <a:r>
              <a:rPr lang="en-US" dirty="0" err="1"/>
              <a:t>dữ</a:t>
            </a:r>
            <a:r>
              <a:rPr lang="en-US" dirty="0"/>
              <a:t> </a:t>
            </a:r>
            <a:r>
              <a:rPr lang="en-US" dirty="0" err="1"/>
              <a:t>liệu</a:t>
            </a:r>
            <a:r>
              <a:rPr lang="en-US" dirty="0"/>
              <a:t>:</a:t>
            </a:r>
          </a:p>
          <a:p>
            <a:pPr marL="685800" indent="-685800" defTabSz="2438337">
              <a:lnSpc>
                <a:spcPct val="90000"/>
              </a:lnSpc>
              <a:spcBef>
                <a:spcPts val="4500"/>
              </a:spcBef>
              <a:buFontTx/>
              <a:buChar char="-"/>
              <a:defRPr sz="4800" b="0"/>
            </a:pP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Python</a:t>
            </a:r>
          </a:p>
          <a:p>
            <a:pPr marL="685800" indent="-685800" defTabSz="2438337">
              <a:lnSpc>
                <a:spcPct val="90000"/>
              </a:lnSpc>
              <a:spcBef>
                <a:spcPts val="4500"/>
              </a:spcBef>
              <a:buFontTx/>
              <a:buChar char="-"/>
              <a:defRPr sz="4800" b="0"/>
            </a:pPr>
            <a:r>
              <a:rPr lang="en-US" dirty="0"/>
              <a:t>Data Graph: </a:t>
            </a:r>
            <a:r>
              <a:rPr lang="en-US" dirty="0" err="1"/>
              <a:t>danh</a:t>
            </a:r>
            <a:r>
              <a:rPr lang="en-US" dirty="0"/>
              <a:t> </a:t>
            </a:r>
            <a:r>
              <a:rPr lang="en-US" dirty="0" err="1"/>
              <a:t>sách</a:t>
            </a:r>
            <a:r>
              <a:rPr lang="en-US" dirty="0"/>
              <a:t> 80 </a:t>
            </a:r>
            <a:r>
              <a:rPr lang="en-US" dirty="0" err="1"/>
              <a:t>địa</a:t>
            </a:r>
            <a:r>
              <a:rPr lang="en-US" dirty="0"/>
              <a:t> </a:t>
            </a:r>
            <a:r>
              <a:rPr lang="en-US" dirty="0" err="1"/>
              <a:t>diểm</a:t>
            </a:r>
            <a:r>
              <a:rPr lang="en-US" dirty="0"/>
              <a:t> </a:t>
            </a:r>
            <a:r>
              <a:rPr lang="en-US" dirty="0" err="1"/>
              <a:t>tại</a:t>
            </a:r>
            <a:r>
              <a:rPr lang="en-US" dirty="0"/>
              <a:t> Việt Nam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79" name="Tổng quan thuật toán SIFT"/>
          <p:cNvSpPr txBox="1">
            <a:spLocks noGrp="1"/>
          </p:cNvSpPr>
          <p:nvPr>
            <p:ph type="title"/>
          </p:nvPr>
        </p:nvSpPr>
        <p:spPr>
          <a:prstGeom prst="rect">
            <a:avLst/>
          </a:prstGeom>
        </p:spPr>
        <p:txBody>
          <a:bodyPr>
            <a:normAutofit/>
          </a:bodyPr>
          <a:lstStyle>
            <a:lvl1pPr defTabSz="1926287">
              <a:defRPr sz="6004" spc="-158">
                <a:solidFill>
                  <a:srgbClr val="0070C0"/>
                </a:solidFill>
                <a:latin typeface="Times New Roman"/>
                <a:ea typeface="Times New Roman"/>
                <a:cs typeface="Times New Roman"/>
                <a:sym typeface="Times New Roman"/>
              </a:defRPr>
            </a:lvl1pPr>
          </a:lstStyle>
          <a:p>
            <a:r>
              <a:rPr lang="en-US" sz="7200" dirty="0" err="1"/>
              <a:t>Tổng</a:t>
            </a:r>
            <a:r>
              <a:rPr lang="en-US" sz="7200" dirty="0"/>
              <a:t> </a:t>
            </a:r>
            <a:r>
              <a:rPr lang="en-US" sz="7200" dirty="0" err="1"/>
              <a:t>quan</a:t>
            </a:r>
            <a:r>
              <a:rPr lang="en-US" sz="7200" dirty="0"/>
              <a:t> </a:t>
            </a:r>
            <a:r>
              <a:rPr lang="en-US" sz="7200" dirty="0" err="1"/>
              <a:t>về</a:t>
            </a:r>
            <a:r>
              <a:rPr lang="en-US" sz="7200" dirty="0"/>
              <a:t> </a:t>
            </a:r>
            <a:r>
              <a:rPr lang="en-US" sz="7200" dirty="0" err="1"/>
              <a:t>Lập</a:t>
            </a:r>
            <a:r>
              <a:rPr lang="en-US" sz="7200" dirty="0"/>
              <a:t> </a:t>
            </a:r>
            <a:r>
              <a:rPr lang="en-US" sz="7200" dirty="0" err="1"/>
              <a:t>kế</a:t>
            </a:r>
            <a:r>
              <a:rPr lang="en-US" sz="7200" dirty="0"/>
              <a:t> </a:t>
            </a:r>
            <a:r>
              <a:rPr lang="en-US" sz="7200" dirty="0" err="1"/>
              <a:t>hoạch</a:t>
            </a:r>
            <a:r>
              <a:rPr lang="en-US" sz="7200" dirty="0"/>
              <a:t> </a:t>
            </a:r>
            <a:r>
              <a:rPr lang="en-US" sz="7200" dirty="0" err="1"/>
              <a:t>lộ</a:t>
            </a:r>
            <a:r>
              <a:rPr lang="en-US" sz="7200" dirty="0"/>
              <a:t> </a:t>
            </a:r>
            <a:r>
              <a:rPr lang="en-US" sz="7200" dirty="0" err="1"/>
              <a:t>trình</a:t>
            </a:r>
            <a:r>
              <a:rPr lang="en-US" sz="7200" dirty="0"/>
              <a:t> &amp; </a:t>
            </a:r>
            <a:r>
              <a:rPr lang="en-US" sz="7200" dirty="0" err="1"/>
              <a:t>Ứng</a:t>
            </a:r>
            <a:r>
              <a:rPr lang="en-US" sz="7200" dirty="0"/>
              <a:t> </a:t>
            </a:r>
            <a:r>
              <a:rPr lang="en-US" sz="7200" dirty="0" err="1"/>
              <a:t>dụng</a:t>
            </a:r>
            <a:r>
              <a:rPr lang="en-US" sz="7200" dirty="0"/>
              <a:t> </a:t>
            </a:r>
            <a:endParaRPr sz="7200" dirty="0"/>
          </a:p>
        </p:txBody>
      </p:sp>
      <p:sp>
        <p:nvSpPr>
          <p:cNvPr id="2" name="TextBox 1">
            <a:extLst>
              <a:ext uri="{FF2B5EF4-FFF2-40B4-BE49-F238E27FC236}">
                <a16:creationId xmlns:a16="http://schemas.microsoft.com/office/drawing/2014/main" id="{95DC41CB-FD3F-351B-B943-96813AD4878C}"/>
              </a:ext>
            </a:extLst>
          </p:cNvPr>
          <p:cNvSpPr txBox="1"/>
          <p:nvPr/>
        </p:nvSpPr>
        <p:spPr>
          <a:xfrm>
            <a:off x="326571" y="3161552"/>
            <a:ext cx="23796171" cy="954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buNone/>
            </a:pPr>
            <a:r>
              <a:rPr kumimoji="0" lang="en-VN" sz="4800" b="0" i="0" u="none" strike="noStrike" cap="none" spc="0" normalizeH="0" baseline="0" dirty="0">
                <a:ln>
                  <a:noFill/>
                </a:ln>
                <a:solidFill>
                  <a:srgbClr val="000000"/>
                </a:solidFill>
                <a:effectLst/>
                <a:uFillTx/>
                <a:latin typeface="+mn-lt"/>
                <a:ea typeface="+mn-ea"/>
                <a:cs typeface="+mn-cs"/>
                <a:sym typeface="Helvetica Neue"/>
              </a:rPr>
              <a:t> </a:t>
            </a:r>
            <a:r>
              <a:rPr lang="vi-VN" b="1" dirty="0"/>
              <a:t>Thu thập &amp; Tiền xử lý dữ liệu: </a:t>
            </a:r>
            <a:r>
              <a:rPr lang="vi-VN" dirty="0"/>
              <a:t>Danh sách các địa điểm (nút), Danh sách tuyến đường (cạnh) kèm trọng số</a:t>
            </a:r>
          </a:p>
          <a:p>
            <a:pPr>
              <a:buNone/>
            </a:pPr>
            <a:r>
              <a:rPr lang="vi-VN" b="1" dirty="0"/>
              <a:t>Xây dựng Đồ thị: </a:t>
            </a:r>
            <a:r>
              <a:rPr lang="vi-VN" dirty="0"/>
              <a:t>Khởi tạo cấu trúc lưu cạnh: danh sách kề, gán trọng số cho mỗi cạnh theo tiêu chí đã chọn</a:t>
            </a:r>
          </a:p>
          <a:p>
            <a:pPr>
              <a:buNone/>
            </a:pPr>
            <a:r>
              <a:rPr lang="vi-VN" b="1" dirty="0"/>
              <a:t>Chọn thuật toán tìm đường</a:t>
            </a:r>
            <a:r>
              <a:rPr lang="vi-VN" dirty="0"/>
              <a:t>: </a:t>
            </a:r>
            <a:r>
              <a:rPr lang="vi-VN" b="1" dirty="0"/>
              <a:t>Dijkstra</a:t>
            </a:r>
            <a:r>
              <a:rPr lang="vi-VN" dirty="0"/>
              <a:t> (đường ngắn nhất) cho mỗi nguồn</a:t>
            </a:r>
          </a:p>
          <a:p>
            <a:pPr>
              <a:buNone/>
            </a:pPr>
            <a:r>
              <a:rPr lang="vi-VN" b="1" dirty="0"/>
              <a:t>Tính toán &amp; Trích xuất kết quả: </a:t>
            </a:r>
            <a:r>
              <a:rPr lang="vi-VN" dirty="0"/>
              <a:t>Lấy đường đi (dãy nút) và tổng chi phí, MST – Prim/Kruskal để xác định mạng lưới kết nối tối ưu từ 1 điểm tới mọi điểm</a:t>
            </a:r>
          </a:p>
          <a:p>
            <a:pPr>
              <a:buNone/>
            </a:pPr>
            <a:r>
              <a:rPr lang="vi-VN" b="1" dirty="0"/>
              <a:t>Hiển thị &amp; Tương tác: </a:t>
            </a:r>
            <a:r>
              <a:rPr lang="vi-VN" dirty="0"/>
              <a:t>Vẽ lộ trình trên bản đồ, cho phép người dùng tìm đường</a:t>
            </a:r>
            <a:endParaRPr kumimoji="0" lang="en-VN" sz="4800" b="0" i="0" u="none" strike="noStrike" cap="none" spc="0" normalizeH="0" baseline="0" dirty="0">
              <a:ln>
                <a:noFill/>
              </a:ln>
              <a:solidFill>
                <a:srgbClr val="000000"/>
              </a:solidFill>
              <a:effectLst/>
              <a:uFillTx/>
              <a:latin typeface="+mn-lt"/>
              <a:ea typeface="+mn-ea"/>
              <a:cs typeface="+mn-cs"/>
              <a:sym typeface="Helvetica Neue"/>
            </a:endParaRPr>
          </a:p>
          <a:p>
            <a:pPr marL="0" marR="0" indent="0" algn="l" defTabSz="2438337" rtl="0" fontAlgn="auto" latinLnBrk="0" hangingPunct="0">
              <a:lnSpc>
                <a:spcPct val="90000"/>
              </a:lnSpc>
              <a:spcBef>
                <a:spcPts val="4500"/>
              </a:spcBef>
              <a:spcAft>
                <a:spcPts val="0"/>
              </a:spcAft>
              <a:buClrTx/>
              <a:buSzTx/>
              <a:buFontTx/>
              <a:buNone/>
              <a:tabLst/>
            </a:pPr>
            <a:endParaRPr lang="en-VN"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a:extLst>
            <a:ext uri="{FF2B5EF4-FFF2-40B4-BE49-F238E27FC236}">
              <a16:creationId xmlns:a16="http://schemas.microsoft.com/office/drawing/2014/main" id="{44B77C85-5889-7E83-35DA-22582FB834A0}"/>
            </a:ext>
          </a:extLst>
        </p:cNvPr>
        <p:cNvGrpSpPr/>
        <p:nvPr/>
      </p:nvGrpSpPr>
      <p:grpSpPr>
        <a:xfrm>
          <a:off x="0" y="0"/>
          <a:ext cx="0" cy="0"/>
          <a:chOff x="0" y="0"/>
          <a:chExt cx="0" cy="0"/>
        </a:xfrm>
      </p:grpSpPr>
      <p:sp>
        <p:nvSpPr>
          <p:cNvPr id="179" name="Tổng quan thuật toán SIFT">
            <a:extLst>
              <a:ext uri="{FF2B5EF4-FFF2-40B4-BE49-F238E27FC236}">
                <a16:creationId xmlns:a16="http://schemas.microsoft.com/office/drawing/2014/main" id="{39400785-2B9E-0746-24CD-F73C9F8E5D05}"/>
              </a:ext>
            </a:extLst>
          </p:cNvPr>
          <p:cNvSpPr txBox="1">
            <a:spLocks noGrp="1"/>
          </p:cNvSpPr>
          <p:nvPr>
            <p:ph type="title"/>
          </p:nvPr>
        </p:nvSpPr>
        <p:spPr>
          <a:prstGeom prst="rect">
            <a:avLst/>
          </a:prstGeom>
        </p:spPr>
        <p:txBody>
          <a:bodyPr>
            <a:normAutofit/>
          </a:bodyPr>
          <a:lstStyle>
            <a:lvl1pPr defTabSz="1926287">
              <a:defRPr sz="6004" spc="-158">
                <a:solidFill>
                  <a:srgbClr val="0070C0"/>
                </a:solidFill>
                <a:latin typeface="Times New Roman"/>
                <a:ea typeface="Times New Roman"/>
                <a:cs typeface="Times New Roman"/>
                <a:sym typeface="Times New Roman"/>
              </a:defRPr>
            </a:lvl1pPr>
          </a:lstStyle>
          <a:p>
            <a:r>
              <a:rPr lang="en-US" sz="7200" dirty="0" err="1"/>
              <a:t>Mô</a:t>
            </a:r>
            <a:r>
              <a:rPr lang="en-US" sz="7200" dirty="0"/>
              <a:t> </a:t>
            </a:r>
            <a:r>
              <a:rPr lang="en-US" sz="7200" dirty="0" err="1"/>
              <a:t>hình</a:t>
            </a:r>
            <a:r>
              <a:rPr lang="en-US" sz="7200" dirty="0"/>
              <a:t> </a:t>
            </a:r>
            <a:r>
              <a:rPr lang="en-US" sz="7200" dirty="0" err="1"/>
              <a:t>đồ</a:t>
            </a:r>
            <a:r>
              <a:rPr lang="en-US" sz="7200" dirty="0"/>
              <a:t> </a:t>
            </a:r>
            <a:r>
              <a:rPr lang="en-US" sz="7200" dirty="0" err="1"/>
              <a:t>thị</a:t>
            </a:r>
            <a:r>
              <a:rPr lang="en-US" sz="7200" dirty="0"/>
              <a:t>: </a:t>
            </a:r>
            <a:r>
              <a:rPr lang="en-US" sz="7200" dirty="0" err="1"/>
              <a:t>Nút</a:t>
            </a:r>
            <a:r>
              <a:rPr lang="en-US" sz="7200" dirty="0"/>
              <a:t> </a:t>
            </a:r>
            <a:r>
              <a:rPr lang="en-US" sz="7200" dirty="0" err="1"/>
              <a:t>và</a:t>
            </a:r>
            <a:r>
              <a:rPr lang="en-US" sz="7200" dirty="0"/>
              <a:t> Cạnh</a:t>
            </a:r>
          </a:p>
        </p:txBody>
      </p:sp>
      <p:sp>
        <p:nvSpPr>
          <p:cNvPr id="2" name="TextBox 1">
            <a:extLst>
              <a:ext uri="{FF2B5EF4-FFF2-40B4-BE49-F238E27FC236}">
                <a16:creationId xmlns:a16="http://schemas.microsoft.com/office/drawing/2014/main" id="{132A04FB-1ABE-D1F3-1264-42E78C5885CE}"/>
              </a:ext>
            </a:extLst>
          </p:cNvPr>
          <p:cNvSpPr txBox="1"/>
          <p:nvPr/>
        </p:nvSpPr>
        <p:spPr>
          <a:xfrm>
            <a:off x="326571" y="3161553"/>
            <a:ext cx="23796171" cy="95482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buNone/>
            </a:pPr>
            <a:r>
              <a:rPr kumimoji="0" lang="en-VN" sz="4800" b="0" i="0" u="none" strike="noStrike" cap="none" spc="0" normalizeH="0" baseline="0" dirty="0">
                <a:ln>
                  <a:noFill/>
                </a:ln>
                <a:solidFill>
                  <a:srgbClr val="000000"/>
                </a:solidFill>
                <a:effectLst/>
                <a:uFillTx/>
                <a:latin typeface="+mn-lt"/>
                <a:ea typeface="+mn-ea"/>
                <a:cs typeface="+mn-cs"/>
                <a:sym typeface="Helvetica Neue"/>
              </a:rPr>
              <a:t> </a:t>
            </a:r>
            <a:r>
              <a:rPr lang="vi-VN" dirty="0"/>
              <a:t>Đồ thị (graph) là cấu trúc dữ liệu rất phù hợp để mô hình hóa mạng lưới giao thông</a:t>
            </a:r>
          </a:p>
          <a:p>
            <a:pPr>
              <a:buNone/>
            </a:pPr>
            <a:r>
              <a:rPr lang="en-US" dirty="0"/>
              <a:t>Hai </a:t>
            </a:r>
            <a:r>
              <a:rPr lang="en-US" dirty="0" err="1"/>
              <a:t>thành</a:t>
            </a:r>
            <a:r>
              <a:rPr lang="en-US" dirty="0"/>
              <a:t> </a:t>
            </a:r>
            <a:r>
              <a:rPr lang="en-US" dirty="0" err="1"/>
              <a:t>phần</a:t>
            </a:r>
            <a:r>
              <a:rPr lang="en-US" dirty="0"/>
              <a:t> </a:t>
            </a:r>
            <a:r>
              <a:rPr lang="en-US" dirty="0" err="1"/>
              <a:t>chính</a:t>
            </a:r>
            <a:r>
              <a:rPr lang="en-US" dirty="0"/>
              <a:t>:</a:t>
            </a:r>
          </a:p>
          <a:p>
            <a:pPr>
              <a:buNone/>
            </a:pPr>
            <a:r>
              <a:rPr lang="en-US" dirty="0"/>
              <a:t>- </a:t>
            </a:r>
            <a:r>
              <a:rPr lang="en-US" dirty="0" err="1"/>
              <a:t>Nút</a:t>
            </a:r>
            <a:r>
              <a:rPr lang="en-US" dirty="0"/>
              <a:t> (vertex): </a:t>
            </a:r>
            <a:r>
              <a:rPr lang="en-US" dirty="0" err="1"/>
              <a:t>Một</a:t>
            </a:r>
            <a:r>
              <a:rPr lang="en-US" dirty="0"/>
              <a:t> </a:t>
            </a:r>
            <a:r>
              <a:rPr lang="en-US" dirty="0" err="1"/>
              <a:t>nút</a:t>
            </a:r>
            <a:r>
              <a:rPr lang="en-US" dirty="0"/>
              <a:t> </a:t>
            </a:r>
            <a:r>
              <a:rPr lang="en-US" dirty="0" err="1"/>
              <a:t>là</a:t>
            </a:r>
            <a:r>
              <a:rPr lang="en-US" dirty="0"/>
              <a:t> </a:t>
            </a:r>
            <a:r>
              <a:rPr lang="en-US" dirty="0" err="1"/>
              <a:t>một</a:t>
            </a:r>
            <a:r>
              <a:rPr lang="en-US" dirty="0"/>
              <a:t> </a:t>
            </a:r>
            <a:r>
              <a:rPr lang="en-US" dirty="0" err="1"/>
              <a:t>thực</a:t>
            </a:r>
            <a:r>
              <a:rPr lang="en-US" dirty="0"/>
              <a:t> </a:t>
            </a:r>
            <a:r>
              <a:rPr lang="en-US" dirty="0" err="1"/>
              <a:t>thể</a:t>
            </a:r>
            <a:r>
              <a:rPr lang="en-US" dirty="0"/>
              <a:t> </a:t>
            </a:r>
            <a:r>
              <a:rPr lang="en-US" dirty="0" err="1"/>
              <a:t>độc</a:t>
            </a:r>
            <a:r>
              <a:rPr lang="en-US" dirty="0"/>
              <a:t> </a:t>
            </a:r>
            <a:r>
              <a:rPr lang="en-US" dirty="0" err="1"/>
              <a:t>lập</a:t>
            </a:r>
            <a:r>
              <a:rPr lang="en-US" dirty="0"/>
              <a:t> </a:t>
            </a:r>
            <a:r>
              <a:rPr lang="en-US" dirty="0" err="1"/>
              <a:t>trong</a:t>
            </a:r>
            <a:r>
              <a:rPr lang="en-US" dirty="0"/>
              <a:t> </a:t>
            </a:r>
            <a:r>
              <a:rPr lang="en-US" dirty="0" err="1"/>
              <a:t>đồ</a:t>
            </a:r>
            <a:r>
              <a:rPr lang="en-US" dirty="0"/>
              <a:t> </a:t>
            </a:r>
            <a:r>
              <a:rPr lang="en-US" dirty="0" err="1"/>
              <a:t>thị</a:t>
            </a:r>
            <a:r>
              <a:rPr lang="en-US" dirty="0"/>
              <a:t>, </a:t>
            </a:r>
            <a:r>
              <a:rPr lang="en-US" dirty="0" err="1"/>
              <a:t>đại</a:t>
            </a:r>
            <a:r>
              <a:rPr lang="en-US" dirty="0"/>
              <a:t> </a:t>
            </a:r>
            <a:r>
              <a:rPr lang="en-US" dirty="0" err="1"/>
              <a:t>diện</a:t>
            </a:r>
            <a:r>
              <a:rPr lang="en-US" dirty="0"/>
              <a:t> </a:t>
            </a:r>
            <a:r>
              <a:rPr lang="en-US" dirty="0" err="1"/>
              <a:t>cho</a:t>
            </a:r>
            <a:r>
              <a:rPr lang="en-US" dirty="0"/>
              <a:t> </a:t>
            </a:r>
            <a:r>
              <a:rPr lang="en-US" dirty="0" err="1"/>
              <a:t>một</a:t>
            </a:r>
            <a:r>
              <a:rPr lang="en-US" dirty="0"/>
              <a:t> </a:t>
            </a:r>
            <a:r>
              <a:rPr lang="en-US" dirty="0" err="1"/>
              <a:t>vị</a:t>
            </a:r>
            <a:r>
              <a:rPr lang="en-US" dirty="0"/>
              <a:t> </a:t>
            </a:r>
            <a:r>
              <a:rPr lang="en-US" dirty="0" err="1"/>
              <a:t>trí</a:t>
            </a:r>
            <a:r>
              <a:rPr lang="en-US" dirty="0"/>
              <a:t>, </a:t>
            </a:r>
            <a:r>
              <a:rPr lang="en-US" dirty="0" err="1"/>
              <a:t>điểm</a:t>
            </a:r>
            <a:r>
              <a:rPr lang="en-US" dirty="0"/>
              <a:t> </a:t>
            </a:r>
            <a:r>
              <a:rPr lang="en-US" dirty="0" err="1"/>
              <a:t>dừng</a:t>
            </a:r>
            <a:r>
              <a:rPr lang="en-US" dirty="0"/>
              <a:t> </a:t>
            </a:r>
            <a:r>
              <a:rPr lang="en-US" dirty="0" err="1"/>
              <a:t>hoặc</a:t>
            </a:r>
            <a:r>
              <a:rPr lang="en-US" dirty="0"/>
              <a:t> </a:t>
            </a:r>
            <a:r>
              <a:rPr lang="en-US" dirty="0" err="1"/>
              <a:t>giao</a:t>
            </a:r>
            <a:r>
              <a:rPr lang="en-US" dirty="0"/>
              <a:t> </a:t>
            </a:r>
            <a:r>
              <a:rPr lang="en-US" dirty="0" err="1"/>
              <a:t>lộ</a:t>
            </a:r>
            <a:r>
              <a:rPr lang="en-US" dirty="0"/>
              <a:t> </a:t>
            </a:r>
            <a:r>
              <a:rPr lang="en-US" dirty="0" err="1"/>
              <a:t>trên</a:t>
            </a:r>
            <a:r>
              <a:rPr lang="en-US" dirty="0"/>
              <a:t> </a:t>
            </a:r>
            <a:r>
              <a:rPr lang="en-US" dirty="0" err="1"/>
              <a:t>bản</a:t>
            </a:r>
            <a:r>
              <a:rPr lang="en-US" dirty="0"/>
              <a:t> </a:t>
            </a:r>
            <a:r>
              <a:rPr lang="en-US" dirty="0" err="1"/>
              <a:t>đồ</a:t>
            </a:r>
            <a:r>
              <a:rPr lang="en-US" dirty="0"/>
              <a:t>.</a:t>
            </a:r>
          </a:p>
          <a:p>
            <a:pPr>
              <a:buNone/>
            </a:pPr>
            <a:r>
              <a:rPr lang="en-US" dirty="0"/>
              <a:t>- Cạnh (edge): </a:t>
            </a:r>
            <a:r>
              <a:rPr lang="vi-VN" dirty="0"/>
              <a:t>Cạnh nối hai nút, mô tả tuyến đường giữa hai địa điểm với trọng số là khoảng cách tính bằng Km</a:t>
            </a:r>
            <a:endParaRPr lang="en-US" dirty="0"/>
          </a:p>
          <a:p>
            <a:pPr>
              <a:buNone/>
            </a:pPr>
            <a:r>
              <a:rPr kumimoji="0" lang="en-VN" sz="4800" b="0" i="0" u="none" strike="noStrike" cap="none" spc="0" normalizeH="0" baseline="0" dirty="0">
                <a:ln>
                  <a:noFill/>
                </a:ln>
                <a:solidFill>
                  <a:srgbClr val="000000"/>
                </a:solidFill>
                <a:effectLst/>
                <a:uFillTx/>
                <a:latin typeface="+mn-lt"/>
                <a:ea typeface="+mn-ea"/>
                <a:cs typeface="+mn-cs"/>
                <a:sym typeface="Helvetica Neue"/>
              </a:rPr>
              <a:t>Vai trò trong lộ trình du lịch: mô tả khoảng cách mạng lưới các tỉnh thành, sử dụng thuật toán Dijkstra, Prim, Kruskal để tìm đường tối ưu theo tiêu chí của người dùng</a:t>
            </a:r>
          </a:p>
          <a:p>
            <a:pPr marL="0" marR="0" indent="0" algn="l" defTabSz="2438337" rtl="0" fontAlgn="auto" latinLnBrk="0" hangingPunct="0">
              <a:lnSpc>
                <a:spcPct val="90000"/>
              </a:lnSpc>
              <a:spcBef>
                <a:spcPts val="4500"/>
              </a:spcBef>
              <a:spcAft>
                <a:spcPts val="0"/>
              </a:spcAft>
              <a:buClrTx/>
              <a:buSzTx/>
              <a:buFontTx/>
              <a:buNone/>
              <a:tabLst/>
            </a:pPr>
            <a:endParaRPr lang="en-VN" dirty="0"/>
          </a:p>
        </p:txBody>
      </p:sp>
    </p:spTree>
    <p:extLst>
      <p:ext uri="{BB962C8B-B14F-4D97-AF65-F5344CB8AC3E}">
        <p14:creationId xmlns:p14="http://schemas.microsoft.com/office/powerpoint/2010/main" val="130316987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a:extLst>
            <a:ext uri="{FF2B5EF4-FFF2-40B4-BE49-F238E27FC236}">
              <a16:creationId xmlns:a16="http://schemas.microsoft.com/office/drawing/2014/main" id="{024DE432-0CE5-21B0-986E-679150DB9373}"/>
            </a:ext>
          </a:extLst>
        </p:cNvPr>
        <p:cNvGrpSpPr/>
        <p:nvPr/>
      </p:nvGrpSpPr>
      <p:grpSpPr>
        <a:xfrm>
          <a:off x="0" y="0"/>
          <a:ext cx="0" cy="0"/>
          <a:chOff x="0" y="0"/>
          <a:chExt cx="0" cy="0"/>
        </a:xfrm>
      </p:grpSpPr>
      <p:sp>
        <p:nvSpPr>
          <p:cNvPr id="179" name="Tổng quan thuật toán SIFT">
            <a:extLst>
              <a:ext uri="{FF2B5EF4-FFF2-40B4-BE49-F238E27FC236}">
                <a16:creationId xmlns:a16="http://schemas.microsoft.com/office/drawing/2014/main" id="{C960D64B-16B5-1987-F01B-B9E1FF7C77F5}"/>
              </a:ext>
            </a:extLst>
          </p:cNvPr>
          <p:cNvSpPr txBox="1">
            <a:spLocks noGrp="1"/>
          </p:cNvSpPr>
          <p:nvPr>
            <p:ph type="title"/>
          </p:nvPr>
        </p:nvSpPr>
        <p:spPr>
          <a:prstGeom prst="rect">
            <a:avLst/>
          </a:prstGeom>
        </p:spPr>
        <p:txBody>
          <a:bodyPr>
            <a:normAutofit/>
          </a:bodyPr>
          <a:lstStyle>
            <a:lvl1pPr defTabSz="1926287">
              <a:defRPr sz="6004" spc="-158">
                <a:solidFill>
                  <a:srgbClr val="0070C0"/>
                </a:solidFill>
                <a:latin typeface="Times New Roman"/>
                <a:ea typeface="Times New Roman"/>
                <a:cs typeface="Times New Roman"/>
                <a:sym typeface="Times New Roman"/>
              </a:defRPr>
            </a:lvl1pPr>
          </a:lstStyle>
          <a:p>
            <a:r>
              <a:rPr lang="en-US" sz="7200" dirty="0" err="1"/>
              <a:t>Thuật</a:t>
            </a:r>
            <a:r>
              <a:rPr lang="en-US" sz="7200" dirty="0"/>
              <a:t> </a:t>
            </a:r>
            <a:r>
              <a:rPr lang="en-US" sz="7200" dirty="0" err="1"/>
              <a:t>toán</a:t>
            </a:r>
            <a:r>
              <a:rPr lang="en-US" sz="7200" dirty="0"/>
              <a:t> </a:t>
            </a:r>
            <a:r>
              <a:rPr lang="en-US" sz="7200" dirty="0" err="1"/>
              <a:t>tìm</a:t>
            </a:r>
            <a:r>
              <a:rPr lang="en-US" sz="7200" dirty="0"/>
              <a:t> </a:t>
            </a:r>
            <a:r>
              <a:rPr lang="en-US" sz="7200" dirty="0" err="1"/>
              <a:t>đường</a:t>
            </a:r>
            <a:r>
              <a:rPr lang="en-US" sz="7200" dirty="0"/>
              <a:t> </a:t>
            </a:r>
            <a:r>
              <a:rPr lang="en-US" sz="7200" dirty="0" err="1"/>
              <a:t>ngắn</a:t>
            </a:r>
            <a:r>
              <a:rPr lang="en-US" sz="7200" dirty="0"/>
              <a:t> </a:t>
            </a:r>
            <a:r>
              <a:rPr lang="en-US" sz="7200" dirty="0" err="1"/>
              <a:t>nhất</a:t>
            </a:r>
            <a:r>
              <a:rPr lang="en-US" sz="7200" dirty="0"/>
              <a:t> Dijkstra</a:t>
            </a:r>
          </a:p>
        </p:txBody>
      </p:sp>
      <p:sp>
        <p:nvSpPr>
          <p:cNvPr id="2" name="TextBox 1">
            <a:extLst>
              <a:ext uri="{FF2B5EF4-FFF2-40B4-BE49-F238E27FC236}">
                <a16:creationId xmlns:a16="http://schemas.microsoft.com/office/drawing/2014/main" id="{E3856EB0-F6D0-2C97-E8FC-5B3A402B75CB}"/>
              </a:ext>
            </a:extLst>
          </p:cNvPr>
          <p:cNvSpPr txBox="1"/>
          <p:nvPr/>
        </p:nvSpPr>
        <p:spPr>
          <a:xfrm>
            <a:off x="326571" y="2164358"/>
            <a:ext cx="23796171" cy="1154264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914400" marR="0" indent="-914400" algn="l" defTabSz="2438337" rtl="0" fontAlgn="auto" latinLnBrk="0" hangingPunct="0">
              <a:lnSpc>
                <a:spcPct val="90000"/>
              </a:lnSpc>
              <a:spcBef>
                <a:spcPts val="4500"/>
              </a:spcBef>
              <a:spcAft>
                <a:spcPts val="0"/>
              </a:spcAft>
              <a:buClrTx/>
              <a:buSzTx/>
              <a:buFontTx/>
              <a:buAutoNum type="arabicPeriod"/>
              <a:tabLst/>
            </a:pPr>
            <a:r>
              <a:rPr lang="vi-VN" dirty="0"/>
              <a:t>Khái niệm</a:t>
            </a:r>
            <a:br>
              <a:rPr lang="vi-VN" dirty="0"/>
            </a:br>
            <a:r>
              <a:rPr lang="vi-VN" dirty="0"/>
              <a:t> Dijkstra là thuật toán cổ điển để tìm đường đi ngắn nhất từ một đỉnh nguồn sss đến tất cả các đỉnh còn lại trong đồ thị có trọng số không âm. Nó đảm bảo tìm ra đường đi với tổng trọng số (cost) nhỏ nhất.</a:t>
            </a:r>
          </a:p>
          <a:p>
            <a:pPr marL="914400" marR="0" indent="-914400" algn="l" defTabSz="2438337" rtl="0" fontAlgn="auto" latinLnBrk="0" hangingPunct="0">
              <a:lnSpc>
                <a:spcPct val="90000"/>
              </a:lnSpc>
              <a:spcBef>
                <a:spcPts val="4500"/>
              </a:spcBef>
              <a:spcAft>
                <a:spcPts val="0"/>
              </a:spcAft>
              <a:buClrTx/>
              <a:buSzTx/>
              <a:buFontTx/>
              <a:buAutoNum type="arabicPeriod"/>
              <a:tabLst/>
            </a:pPr>
            <a:r>
              <a:rPr lang="vi-VN" dirty="0"/>
              <a:t>Ưu điểm</a:t>
            </a:r>
          </a:p>
          <a:p>
            <a:pPr marR="0" algn="l" defTabSz="2438337" rtl="0" fontAlgn="auto" latinLnBrk="0" hangingPunct="0">
              <a:lnSpc>
                <a:spcPct val="90000"/>
              </a:lnSpc>
              <a:spcBef>
                <a:spcPts val="4500"/>
              </a:spcBef>
              <a:spcAft>
                <a:spcPts val="0"/>
              </a:spcAft>
              <a:buClrTx/>
              <a:buSzTx/>
              <a:tabLst/>
            </a:pPr>
            <a:r>
              <a:rPr lang="vi-VN" dirty="0"/>
              <a:t>     Đảm bảo tìm đường ngắn nhất với trọng số không âm, cấu trúc đơn giản, dễ triển     khai với heap, độ phức tạp tốt với đồ thị thưa</a:t>
            </a:r>
            <a:br>
              <a:rPr lang="vi-VN" dirty="0"/>
            </a:br>
            <a:r>
              <a:rPr lang="vi-VN" dirty="0"/>
              <a:t>    Ứng dụng tốt trong việc tính đường đi ngắn nhất, tìm chuyến đi nhanh nhất, tìm lộ trình tiết kiệm nhất</a:t>
            </a:r>
          </a:p>
          <a:p>
            <a:pPr marR="0" algn="l" defTabSz="2438337" rtl="0" fontAlgn="auto" latinLnBrk="0" hangingPunct="0">
              <a:lnSpc>
                <a:spcPct val="90000"/>
              </a:lnSpc>
              <a:spcBef>
                <a:spcPts val="4500"/>
              </a:spcBef>
              <a:spcAft>
                <a:spcPts val="0"/>
              </a:spcAft>
              <a:buClrTx/>
              <a:buSzTx/>
              <a:tabLst/>
            </a:pPr>
            <a:r>
              <a:rPr lang="vi-VN" dirty="0"/>
              <a:t>3. Nhược điểm </a:t>
            </a:r>
          </a:p>
          <a:p>
            <a:pPr marR="0" algn="l" defTabSz="2438337" rtl="0" fontAlgn="auto" latinLnBrk="0" hangingPunct="0">
              <a:lnSpc>
                <a:spcPct val="90000"/>
              </a:lnSpc>
              <a:spcBef>
                <a:spcPts val="4500"/>
              </a:spcBef>
              <a:spcAft>
                <a:spcPts val="0"/>
              </a:spcAft>
              <a:buClrTx/>
              <a:buSzTx/>
              <a:tabLst/>
            </a:pPr>
            <a:r>
              <a:rPr lang="vi-VN" dirty="0"/>
              <a:t>Không dùng được nếu có trọng số âm, xét tất cả đỉnh, không ưu tiên điểm đích cụ thể</a:t>
            </a:r>
          </a:p>
          <a:p>
            <a:pPr marR="0" algn="l" defTabSz="2438337" rtl="0" fontAlgn="auto" latinLnBrk="0" hangingPunct="0">
              <a:lnSpc>
                <a:spcPct val="90000"/>
              </a:lnSpc>
              <a:spcBef>
                <a:spcPts val="4500"/>
              </a:spcBef>
              <a:spcAft>
                <a:spcPts val="0"/>
              </a:spcAft>
              <a:buClrTx/>
              <a:buSzTx/>
              <a:tabLst/>
            </a:pPr>
            <a:endParaRPr lang="en-VN" dirty="0"/>
          </a:p>
        </p:txBody>
      </p:sp>
    </p:spTree>
    <p:extLst>
      <p:ext uri="{BB962C8B-B14F-4D97-AF65-F5344CB8AC3E}">
        <p14:creationId xmlns:p14="http://schemas.microsoft.com/office/powerpoint/2010/main" val="427203692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a:extLst>
            <a:ext uri="{FF2B5EF4-FFF2-40B4-BE49-F238E27FC236}">
              <a16:creationId xmlns:a16="http://schemas.microsoft.com/office/drawing/2014/main" id="{3C828DD8-8513-353C-5ED5-39B5BF813CBA}"/>
            </a:ext>
          </a:extLst>
        </p:cNvPr>
        <p:cNvGrpSpPr/>
        <p:nvPr/>
      </p:nvGrpSpPr>
      <p:grpSpPr>
        <a:xfrm>
          <a:off x="0" y="0"/>
          <a:ext cx="0" cy="0"/>
          <a:chOff x="0" y="0"/>
          <a:chExt cx="0" cy="0"/>
        </a:xfrm>
      </p:grpSpPr>
      <p:sp>
        <p:nvSpPr>
          <p:cNvPr id="179" name="Tổng quan thuật toán SIFT">
            <a:extLst>
              <a:ext uri="{FF2B5EF4-FFF2-40B4-BE49-F238E27FC236}">
                <a16:creationId xmlns:a16="http://schemas.microsoft.com/office/drawing/2014/main" id="{B919CDE9-B5C6-646C-ECAA-27FECF9F146A}"/>
              </a:ext>
            </a:extLst>
          </p:cNvPr>
          <p:cNvSpPr txBox="1">
            <a:spLocks noGrp="1"/>
          </p:cNvSpPr>
          <p:nvPr>
            <p:ph type="title"/>
          </p:nvPr>
        </p:nvSpPr>
        <p:spPr>
          <a:xfrm>
            <a:off x="1141186" y="361046"/>
            <a:ext cx="21971000" cy="1433164"/>
          </a:xfrm>
          <a:prstGeom prst="rect">
            <a:avLst/>
          </a:prstGeom>
        </p:spPr>
        <p:txBody>
          <a:bodyPr>
            <a:normAutofit/>
          </a:bodyPr>
          <a:lstStyle>
            <a:lvl1pPr defTabSz="1926287">
              <a:defRPr sz="6004" spc="-158">
                <a:solidFill>
                  <a:srgbClr val="0070C0"/>
                </a:solidFill>
                <a:latin typeface="Times New Roman"/>
                <a:ea typeface="Times New Roman"/>
                <a:cs typeface="Times New Roman"/>
                <a:sym typeface="Times New Roman"/>
              </a:defRPr>
            </a:lvl1pPr>
          </a:lstStyle>
          <a:p>
            <a:r>
              <a:rPr lang="en-US" sz="7200" dirty="0" err="1"/>
              <a:t>Thuật</a:t>
            </a:r>
            <a:r>
              <a:rPr lang="en-US" sz="7200" dirty="0"/>
              <a:t> </a:t>
            </a:r>
            <a:r>
              <a:rPr lang="en-US" sz="7200" dirty="0" err="1"/>
              <a:t>toán</a:t>
            </a:r>
            <a:r>
              <a:rPr lang="en-US" sz="7200" dirty="0"/>
              <a:t> </a:t>
            </a:r>
            <a:r>
              <a:rPr lang="en-US" sz="7200" dirty="0" err="1"/>
              <a:t>cây</a:t>
            </a:r>
            <a:r>
              <a:rPr lang="en-US" sz="7200" dirty="0"/>
              <a:t> </a:t>
            </a:r>
            <a:r>
              <a:rPr lang="en-US" sz="7200" dirty="0" err="1"/>
              <a:t>khung</a:t>
            </a:r>
            <a:r>
              <a:rPr lang="en-US" sz="7200" dirty="0"/>
              <a:t> </a:t>
            </a:r>
            <a:r>
              <a:rPr lang="en-US" sz="7200" dirty="0" err="1"/>
              <a:t>nhỏ</a:t>
            </a:r>
            <a:r>
              <a:rPr lang="en-US" sz="7200" dirty="0"/>
              <a:t> </a:t>
            </a:r>
            <a:r>
              <a:rPr lang="en-US" sz="7200" dirty="0" err="1"/>
              <a:t>nhất</a:t>
            </a:r>
            <a:r>
              <a:rPr lang="en-US" sz="7200" dirty="0"/>
              <a:t> Prim</a:t>
            </a:r>
          </a:p>
        </p:txBody>
      </p:sp>
      <p:sp>
        <p:nvSpPr>
          <p:cNvPr id="2" name="TextBox 1">
            <a:extLst>
              <a:ext uri="{FF2B5EF4-FFF2-40B4-BE49-F238E27FC236}">
                <a16:creationId xmlns:a16="http://schemas.microsoft.com/office/drawing/2014/main" id="{1706553F-5D72-1E9B-1FCE-B7E6BE53EE77}"/>
              </a:ext>
            </a:extLst>
          </p:cNvPr>
          <p:cNvSpPr txBox="1"/>
          <p:nvPr/>
        </p:nvSpPr>
        <p:spPr>
          <a:xfrm>
            <a:off x="326571" y="2148731"/>
            <a:ext cx="23796171" cy="10790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R="0" algn="l" defTabSz="2438337" rtl="0" fontAlgn="auto" latinLnBrk="0" hangingPunct="0">
              <a:lnSpc>
                <a:spcPct val="90000"/>
              </a:lnSpc>
              <a:spcBef>
                <a:spcPts val="4500"/>
              </a:spcBef>
              <a:spcAft>
                <a:spcPts val="0"/>
              </a:spcAft>
              <a:buClrTx/>
              <a:buSzTx/>
              <a:tabLst/>
            </a:pPr>
            <a:r>
              <a:rPr lang="en-VN" b="1" dirty="0"/>
              <a:t>1. Prim</a:t>
            </a:r>
          </a:p>
          <a:p>
            <a:pPr marR="0" algn="l" defTabSz="2438337" rtl="0" fontAlgn="auto" latinLnBrk="0" hangingPunct="0">
              <a:lnSpc>
                <a:spcPct val="90000"/>
              </a:lnSpc>
              <a:spcBef>
                <a:spcPts val="4500"/>
              </a:spcBef>
              <a:spcAft>
                <a:spcPts val="0"/>
              </a:spcAft>
              <a:buClrTx/>
              <a:buSzTx/>
              <a:tabLst/>
            </a:pPr>
            <a:r>
              <a:rPr lang="en-US" dirty="0" err="1"/>
              <a:t>Bắt</a:t>
            </a:r>
            <a:r>
              <a:rPr lang="en-US" dirty="0"/>
              <a:t> </a:t>
            </a:r>
            <a:r>
              <a:rPr lang="en-US" dirty="0" err="1"/>
              <a:t>đầu</a:t>
            </a:r>
            <a:r>
              <a:rPr lang="en-US" dirty="0"/>
              <a:t> </a:t>
            </a:r>
            <a:r>
              <a:rPr lang="en-US" dirty="0" err="1"/>
              <a:t>từ</a:t>
            </a:r>
            <a:r>
              <a:rPr lang="en-US" dirty="0"/>
              <a:t> </a:t>
            </a:r>
            <a:r>
              <a:rPr lang="en-US" dirty="0" err="1"/>
              <a:t>một</a:t>
            </a:r>
            <a:r>
              <a:rPr lang="en-US" dirty="0"/>
              <a:t> </a:t>
            </a:r>
            <a:r>
              <a:rPr lang="en-US" dirty="0" err="1"/>
              <a:t>nút</a:t>
            </a:r>
            <a:r>
              <a:rPr lang="en-US" dirty="0"/>
              <a:t> </a:t>
            </a:r>
            <a:r>
              <a:rPr lang="en-US" dirty="0" err="1"/>
              <a:t>bất</a:t>
            </a:r>
            <a:r>
              <a:rPr lang="en-US" dirty="0"/>
              <a:t> </a:t>
            </a:r>
            <a:r>
              <a:rPr lang="en-US" dirty="0" err="1"/>
              <a:t>kỳ</a:t>
            </a:r>
            <a:r>
              <a:rPr lang="en-US" dirty="0"/>
              <a:t>, </a:t>
            </a:r>
            <a:r>
              <a:rPr lang="en-US" dirty="0" err="1"/>
              <a:t>liên</a:t>
            </a:r>
            <a:r>
              <a:rPr lang="en-US" dirty="0"/>
              <a:t> </a:t>
            </a:r>
            <a:r>
              <a:rPr lang="en-US" dirty="0" err="1"/>
              <a:t>tục</a:t>
            </a:r>
            <a:r>
              <a:rPr lang="en-US" dirty="0"/>
              <a:t> </a:t>
            </a:r>
            <a:r>
              <a:rPr lang="en-US" dirty="0" err="1"/>
              <a:t>mở</a:t>
            </a:r>
            <a:r>
              <a:rPr lang="en-US" dirty="0"/>
              <a:t> </a:t>
            </a:r>
            <a:r>
              <a:rPr lang="en-US" dirty="0" err="1"/>
              <a:t>rộng</a:t>
            </a:r>
            <a:r>
              <a:rPr lang="en-US" dirty="0"/>
              <a:t> </a:t>
            </a:r>
            <a:r>
              <a:rPr lang="en-US" dirty="0" err="1"/>
              <a:t>cây</a:t>
            </a:r>
            <a:r>
              <a:rPr lang="en-US" dirty="0"/>
              <a:t> </a:t>
            </a:r>
            <a:r>
              <a:rPr lang="en-US" dirty="0" err="1"/>
              <a:t>bằng</a:t>
            </a:r>
            <a:r>
              <a:rPr lang="en-US" dirty="0"/>
              <a:t> </a:t>
            </a:r>
            <a:r>
              <a:rPr lang="en-US" dirty="0" err="1"/>
              <a:t>cách</a:t>
            </a:r>
            <a:r>
              <a:rPr lang="en-US" dirty="0"/>
              <a:t> </a:t>
            </a:r>
            <a:r>
              <a:rPr lang="en-US" dirty="0" err="1"/>
              <a:t>chọn</a:t>
            </a:r>
            <a:r>
              <a:rPr lang="en-US" dirty="0"/>
              <a:t> </a:t>
            </a:r>
            <a:r>
              <a:rPr lang="en-US" b="1" dirty="0" err="1"/>
              <a:t>cạnh</a:t>
            </a:r>
            <a:r>
              <a:rPr lang="en-US" b="1" dirty="0"/>
              <a:t> </a:t>
            </a:r>
            <a:r>
              <a:rPr lang="en-US" b="1" dirty="0" err="1"/>
              <a:t>nhỏ</a:t>
            </a:r>
            <a:r>
              <a:rPr lang="en-US" b="1" dirty="0"/>
              <a:t> </a:t>
            </a:r>
            <a:r>
              <a:rPr lang="en-US" b="1" dirty="0" err="1"/>
              <a:t>nhất</a:t>
            </a:r>
            <a:r>
              <a:rPr lang="en-US" dirty="0"/>
              <a:t> </a:t>
            </a:r>
            <a:r>
              <a:rPr lang="en-US" dirty="0" err="1"/>
              <a:t>nối</a:t>
            </a:r>
            <a:r>
              <a:rPr lang="en-US" dirty="0"/>
              <a:t> </a:t>
            </a:r>
            <a:r>
              <a:rPr lang="en-US" dirty="0" err="1"/>
              <a:t>từ</a:t>
            </a:r>
            <a:r>
              <a:rPr lang="en-US" dirty="0"/>
              <a:t> </a:t>
            </a:r>
            <a:r>
              <a:rPr lang="en-US" dirty="0" err="1"/>
              <a:t>tập</a:t>
            </a:r>
            <a:r>
              <a:rPr lang="en-US" dirty="0"/>
              <a:t> </a:t>
            </a:r>
            <a:r>
              <a:rPr lang="en-US" dirty="0" err="1"/>
              <a:t>nút</a:t>
            </a:r>
            <a:r>
              <a:rPr lang="en-US" dirty="0"/>
              <a:t> </a:t>
            </a:r>
            <a:r>
              <a:rPr lang="en-US" dirty="0" err="1"/>
              <a:t>đã</a:t>
            </a:r>
            <a:r>
              <a:rPr lang="en-US" dirty="0"/>
              <a:t> </a:t>
            </a:r>
            <a:r>
              <a:rPr lang="en-US" dirty="0" err="1"/>
              <a:t>chọn</a:t>
            </a:r>
            <a:r>
              <a:rPr lang="en-US" dirty="0"/>
              <a:t> </a:t>
            </a:r>
            <a:r>
              <a:rPr lang="en-US" dirty="0" err="1"/>
              <a:t>ra</a:t>
            </a:r>
            <a:r>
              <a:rPr lang="en-US" dirty="0"/>
              <a:t> </a:t>
            </a:r>
            <a:r>
              <a:rPr lang="en-US" dirty="0" err="1"/>
              <a:t>nút</a:t>
            </a:r>
            <a:r>
              <a:rPr lang="en-US" dirty="0"/>
              <a:t> </a:t>
            </a:r>
            <a:r>
              <a:rPr lang="en-US" dirty="0" err="1"/>
              <a:t>ngoài</a:t>
            </a:r>
            <a:endParaRPr lang="en-US" dirty="0"/>
          </a:p>
          <a:p>
            <a:pPr>
              <a:buNone/>
            </a:pPr>
            <a:r>
              <a:rPr lang="vi-VN" b="1" dirty="0"/>
              <a:t>Các bước chính</a:t>
            </a:r>
            <a:r>
              <a:rPr lang="vi-VN" dirty="0"/>
              <a:t>:</a:t>
            </a:r>
          </a:p>
          <a:p>
            <a:pPr>
              <a:buNone/>
            </a:pPr>
            <a:r>
              <a:rPr lang="vi-VN" dirty="0"/>
              <a:t>- Đánh dấu tập S chỉ chứa nút gốc.</a:t>
            </a:r>
          </a:p>
          <a:p>
            <a:r>
              <a:rPr lang="vi-VN" dirty="0"/>
              <a:t>- Lặp: trong các cạnh nối giữa S và bên ngoài, chọn cạnh có trọng số nhỏ nhất, thêm nút mới vào S.</a:t>
            </a:r>
          </a:p>
          <a:p>
            <a:r>
              <a:rPr lang="vi-VN" dirty="0"/>
              <a:t>- Dừng khi S chứa tất cả nút.</a:t>
            </a:r>
          </a:p>
          <a:p>
            <a:pPr marR="0" algn="l" defTabSz="2438337" rtl="0" fontAlgn="auto" latinLnBrk="0" hangingPunct="0">
              <a:lnSpc>
                <a:spcPct val="90000"/>
              </a:lnSpc>
              <a:spcBef>
                <a:spcPts val="4500"/>
              </a:spcBef>
              <a:spcAft>
                <a:spcPts val="0"/>
              </a:spcAft>
              <a:buClrTx/>
              <a:buSzTx/>
              <a:tabLst/>
            </a:pPr>
            <a:r>
              <a:rPr lang="vi-VN" b="1" dirty="0"/>
              <a:t>Ưu điểm</a:t>
            </a:r>
            <a:r>
              <a:rPr lang="en-VN" dirty="0"/>
              <a:t>: </a:t>
            </a:r>
            <a:r>
              <a:rPr lang="vi-VN" dirty="0"/>
              <a:t>Khởi đầu từ bất kỳ nút nào, dễ tích hợp vào ứng dụng tương tác (ví dụ: chọn điểm khởi hành ưu tiên)</a:t>
            </a:r>
            <a:r>
              <a:rPr lang="en-VN" dirty="0"/>
              <a:t>, </a:t>
            </a:r>
            <a:r>
              <a:rPr lang="en-US" dirty="0"/>
              <a:t>Hiệu </a:t>
            </a:r>
            <a:r>
              <a:rPr lang="en-US" dirty="0" err="1"/>
              <a:t>quả</a:t>
            </a:r>
            <a:r>
              <a:rPr lang="en-US" dirty="0"/>
              <a:t> </a:t>
            </a:r>
            <a:r>
              <a:rPr lang="en-US" dirty="0" err="1"/>
              <a:t>với</a:t>
            </a:r>
            <a:r>
              <a:rPr lang="en-US" dirty="0"/>
              <a:t> </a:t>
            </a:r>
            <a:r>
              <a:rPr lang="en-US" dirty="0" err="1"/>
              <a:t>đồ</a:t>
            </a:r>
            <a:r>
              <a:rPr lang="en-US" dirty="0"/>
              <a:t> </a:t>
            </a:r>
            <a:r>
              <a:rPr lang="en-US" dirty="0" err="1"/>
              <a:t>thị</a:t>
            </a:r>
            <a:r>
              <a:rPr lang="en-US" dirty="0"/>
              <a:t> </a:t>
            </a:r>
            <a:r>
              <a:rPr lang="en-US" dirty="0" err="1"/>
              <a:t>dày</a:t>
            </a:r>
            <a:r>
              <a:rPr lang="en-US" dirty="0"/>
              <a:t> </a:t>
            </a:r>
            <a:r>
              <a:rPr lang="en-US" dirty="0" err="1"/>
              <a:t>đặc</a:t>
            </a:r>
            <a:r>
              <a:rPr lang="en-US" dirty="0"/>
              <a:t> (</a:t>
            </a:r>
            <a:r>
              <a:rPr lang="en-US" dirty="0" err="1"/>
              <a:t>nhiều</a:t>
            </a:r>
            <a:r>
              <a:rPr lang="en-US" dirty="0"/>
              <a:t> </a:t>
            </a:r>
            <a:r>
              <a:rPr lang="en-US" dirty="0" err="1"/>
              <a:t>cạnh</a:t>
            </a:r>
            <a:r>
              <a:rPr lang="en-US" dirty="0"/>
              <a:t>)</a:t>
            </a:r>
            <a:endParaRPr lang="en-VN" dirty="0"/>
          </a:p>
        </p:txBody>
      </p:sp>
    </p:spTree>
    <p:extLst>
      <p:ext uri="{BB962C8B-B14F-4D97-AF65-F5344CB8AC3E}">
        <p14:creationId xmlns:p14="http://schemas.microsoft.com/office/powerpoint/2010/main" val="74915792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a:extLst>
            <a:ext uri="{FF2B5EF4-FFF2-40B4-BE49-F238E27FC236}">
              <a16:creationId xmlns:a16="http://schemas.microsoft.com/office/drawing/2014/main" id="{5DB66BF8-8492-42DD-4B64-1F0D193229E3}"/>
            </a:ext>
          </a:extLst>
        </p:cNvPr>
        <p:cNvGrpSpPr/>
        <p:nvPr/>
      </p:nvGrpSpPr>
      <p:grpSpPr>
        <a:xfrm>
          <a:off x="0" y="0"/>
          <a:ext cx="0" cy="0"/>
          <a:chOff x="0" y="0"/>
          <a:chExt cx="0" cy="0"/>
        </a:xfrm>
      </p:grpSpPr>
      <p:sp>
        <p:nvSpPr>
          <p:cNvPr id="179" name="Tổng quan thuật toán SIFT">
            <a:extLst>
              <a:ext uri="{FF2B5EF4-FFF2-40B4-BE49-F238E27FC236}">
                <a16:creationId xmlns:a16="http://schemas.microsoft.com/office/drawing/2014/main" id="{33449D03-1F4E-737D-4BCD-A2A27CFB08C0}"/>
              </a:ext>
            </a:extLst>
          </p:cNvPr>
          <p:cNvSpPr txBox="1">
            <a:spLocks noGrp="1"/>
          </p:cNvSpPr>
          <p:nvPr>
            <p:ph type="title"/>
          </p:nvPr>
        </p:nvSpPr>
        <p:spPr>
          <a:xfrm>
            <a:off x="977901" y="263075"/>
            <a:ext cx="21971000" cy="1433164"/>
          </a:xfrm>
          <a:prstGeom prst="rect">
            <a:avLst/>
          </a:prstGeom>
        </p:spPr>
        <p:txBody>
          <a:bodyPr>
            <a:normAutofit/>
          </a:bodyPr>
          <a:lstStyle>
            <a:lvl1pPr defTabSz="1926287">
              <a:defRPr sz="6004" spc="-158">
                <a:solidFill>
                  <a:srgbClr val="0070C0"/>
                </a:solidFill>
                <a:latin typeface="Times New Roman"/>
                <a:ea typeface="Times New Roman"/>
                <a:cs typeface="Times New Roman"/>
                <a:sym typeface="Times New Roman"/>
              </a:defRPr>
            </a:lvl1pPr>
          </a:lstStyle>
          <a:p>
            <a:r>
              <a:rPr lang="en-US" sz="7200" dirty="0" err="1"/>
              <a:t>Thuật</a:t>
            </a:r>
            <a:r>
              <a:rPr lang="en-US" sz="7200" dirty="0"/>
              <a:t> </a:t>
            </a:r>
            <a:r>
              <a:rPr lang="en-US" sz="7200" dirty="0" err="1"/>
              <a:t>toán</a:t>
            </a:r>
            <a:r>
              <a:rPr lang="en-US" sz="7200" dirty="0"/>
              <a:t> </a:t>
            </a:r>
            <a:r>
              <a:rPr lang="en-US" sz="7200" dirty="0" err="1"/>
              <a:t>cây</a:t>
            </a:r>
            <a:r>
              <a:rPr lang="en-US" sz="7200" dirty="0"/>
              <a:t> </a:t>
            </a:r>
            <a:r>
              <a:rPr lang="en-US" sz="7200" dirty="0" err="1"/>
              <a:t>khung</a:t>
            </a:r>
            <a:r>
              <a:rPr lang="en-US" sz="7200" dirty="0"/>
              <a:t> </a:t>
            </a:r>
            <a:r>
              <a:rPr lang="en-US" sz="7200" dirty="0" err="1"/>
              <a:t>nhỏ</a:t>
            </a:r>
            <a:r>
              <a:rPr lang="en-US" sz="7200" dirty="0"/>
              <a:t> </a:t>
            </a:r>
            <a:r>
              <a:rPr lang="en-US" sz="7200" dirty="0" err="1"/>
              <a:t>nhất</a:t>
            </a:r>
            <a:r>
              <a:rPr lang="en-US" sz="7200" dirty="0"/>
              <a:t> Kruskal</a:t>
            </a:r>
          </a:p>
        </p:txBody>
      </p:sp>
      <p:sp>
        <p:nvSpPr>
          <p:cNvPr id="2" name="TextBox 1">
            <a:extLst>
              <a:ext uri="{FF2B5EF4-FFF2-40B4-BE49-F238E27FC236}">
                <a16:creationId xmlns:a16="http://schemas.microsoft.com/office/drawing/2014/main" id="{1ACD5358-0A9E-62ED-F151-76F61D3901DE}"/>
              </a:ext>
            </a:extLst>
          </p:cNvPr>
          <p:cNvSpPr txBox="1"/>
          <p:nvPr/>
        </p:nvSpPr>
        <p:spPr>
          <a:xfrm>
            <a:off x="326571" y="1342596"/>
            <a:ext cx="23796171" cy="131861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buNone/>
            </a:pPr>
            <a:r>
              <a:rPr lang="en-US" b="1" dirty="0"/>
              <a:t>2. Kruskal</a:t>
            </a:r>
          </a:p>
          <a:p>
            <a:pPr>
              <a:buNone/>
            </a:pPr>
            <a:r>
              <a:rPr lang="en-US" dirty="0" err="1"/>
              <a:t>Xét</a:t>
            </a:r>
            <a:r>
              <a:rPr lang="en-US" dirty="0"/>
              <a:t> </a:t>
            </a:r>
            <a:r>
              <a:rPr lang="en-US" dirty="0" err="1"/>
              <a:t>tuần</a:t>
            </a:r>
            <a:r>
              <a:rPr lang="en-US" dirty="0"/>
              <a:t> </a:t>
            </a:r>
            <a:r>
              <a:rPr lang="en-US" dirty="0" err="1"/>
              <a:t>tự</a:t>
            </a:r>
            <a:r>
              <a:rPr lang="en-US" dirty="0"/>
              <a:t> </a:t>
            </a:r>
            <a:r>
              <a:rPr lang="en-US" dirty="0" err="1"/>
              <a:t>các</a:t>
            </a:r>
            <a:r>
              <a:rPr lang="en-US" dirty="0"/>
              <a:t> </a:t>
            </a:r>
            <a:r>
              <a:rPr lang="en-US" dirty="0" err="1"/>
              <a:t>cạnh</a:t>
            </a:r>
            <a:r>
              <a:rPr lang="en-US" dirty="0"/>
              <a:t> </a:t>
            </a:r>
            <a:r>
              <a:rPr lang="en-US" dirty="0" err="1"/>
              <a:t>theo</a:t>
            </a:r>
            <a:r>
              <a:rPr lang="en-US" dirty="0"/>
              <a:t> </a:t>
            </a:r>
            <a:r>
              <a:rPr lang="en-US" dirty="0" err="1"/>
              <a:t>thứ</a:t>
            </a:r>
            <a:r>
              <a:rPr lang="en-US" dirty="0"/>
              <a:t> </a:t>
            </a:r>
            <a:r>
              <a:rPr lang="en-US" dirty="0" err="1"/>
              <a:t>tự</a:t>
            </a:r>
            <a:r>
              <a:rPr lang="en-US" dirty="0"/>
              <a:t> </a:t>
            </a:r>
            <a:r>
              <a:rPr lang="en-US" dirty="0" err="1"/>
              <a:t>tăng</a:t>
            </a:r>
            <a:r>
              <a:rPr lang="en-US" dirty="0"/>
              <a:t> </a:t>
            </a:r>
            <a:r>
              <a:rPr lang="en-US" dirty="0" err="1"/>
              <a:t>dần</a:t>
            </a:r>
            <a:r>
              <a:rPr lang="en-US" dirty="0"/>
              <a:t> </a:t>
            </a:r>
            <a:r>
              <a:rPr lang="en-US" dirty="0" err="1"/>
              <a:t>trọng</a:t>
            </a:r>
            <a:r>
              <a:rPr lang="en-US" dirty="0"/>
              <a:t> </a:t>
            </a:r>
            <a:r>
              <a:rPr lang="en-US" dirty="0" err="1"/>
              <a:t>số</a:t>
            </a:r>
            <a:r>
              <a:rPr lang="en-US" dirty="0"/>
              <a:t>, </a:t>
            </a:r>
            <a:r>
              <a:rPr lang="en-US" dirty="0" err="1"/>
              <a:t>thêm</a:t>
            </a:r>
            <a:r>
              <a:rPr lang="en-US" dirty="0"/>
              <a:t> </a:t>
            </a:r>
            <a:r>
              <a:rPr lang="en-US" dirty="0" err="1"/>
              <a:t>vào</a:t>
            </a:r>
            <a:r>
              <a:rPr lang="en-US" dirty="0"/>
              <a:t> </a:t>
            </a:r>
            <a:r>
              <a:rPr lang="en-US" dirty="0" err="1"/>
              <a:t>nếu</a:t>
            </a:r>
            <a:r>
              <a:rPr lang="en-US" dirty="0"/>
              <a:t> </a:t>
            </a:r>
            <a:r>
              <a:rPr lang="en-US" dirty="0" err="1"/>
              <a:t>không</a:t>
            </a:r>
            <a:r>
              <a:rPr lang="en-US" dirty="0"/>
              <a:t> </a:t>
            </a:r>
            <a:r>
              <a:rPr lang="en-US" dirty="0" err="1"/>
              <a:t>tạo</a:t>
            </a:r>
            <a:r>
              <a:rPr lang="en-US" dirty="0"/>
              <a:t> chu </a:t>
            </a:r>
            <a:r>
              <a:rPr lang="en-US" dirty="0" err="1"/>
              <a:t>trình</a:t>
            </a:r>
            <a:endParaRPr lang="en-US" dirty="0"/>
          </a:p>
          <a:p>
            <a:pPr>
              <a:buNone/>
            </a:pPr>
            <a:r>
              <a:rPr lang="vi-VN" b="1" dirty="0"/>
              <a:t>Các bước chính</a:t>
            </a:r>
            <a:r>
              <a:rPr lang="vi-VN" dirty="0"/>
              <a:t>:</a:t>
            </a:r>
          </a:p>
          <a:p>
            <a:r>
              <a:rPr lang="vi-VN" dirty="0"/>
              <a:t>- Tạo forest khởi đầu gồm V cây rời (mỗi nút một cây).</a:t>
            </a:r>
          </a:p>
          <a:p>
            <a:r>
              <a:rPr lang="vi-VN" dirty="0"/>
              <a:t>- Duyệt các cạnh tăng dần trọng số: nếu hai đầu cạnh thuộc hai cây khác nhau, hợp nhất chúng.</a:t>
            </a:r>
          </a:p>
          <a:p>
            <a:r>
              <a:rPr lang="vi-VN" dirty="0"/>
              <a:t>- Dừng khi chỉ còn một cây chứa đủ V nút.</a:t>
            </a:r>
          </a:p>
          <a:p>
            <a:r>
              <a:rPr lang="vi-VN" b="1" dirty="0"/>
              <a:t>Ưu điểm</a:t>
            </a:r>
            <a:r>
              <a:rPr lang="vi-VN" dirty="0"/>
              <a:t>:</a:t>
            </a:r>
          </a:p>
          <a:p>
            <a:pPr marL="685800" indent="-685800">
              <a:buFontTx/>
              <a:buChar char="-"/>
            </a:pPr>
            <a:r>
              <a:rPr lang="vi-VN" dirty="0"/>
              <a:t>Dễ triển khai, trực quan; tốt với đồ thị thưa.</a:t>
            </a:r>
          </a:p>
          <a:p>
            <a:pPr marL="685800" indent="-685800">
              <a:buFontTx/>
              <a:buChar char="-"/>
            </a:pPr>
            <a:r>
              <a:rPr lang="vi-VN" dirty="0"/>
              <a:t>Dễ mở rộng đa đồ thị (nhiều cạnh giữa hai nút).</a:t>
            </a:r>
          </a:p>
          <a:p>
            <a:pPr>
              <a:buNone/>
            </a:pPr>
            <a:endParaRPr lang="en-VN" dirty="0"/>
          </a:p>
        </p:txBody>
      </p:sp>
    </p:spTree>
    <p:extLst>
      <p:ext uri="{BB962C8B-B14F-4D97-AF65-F5344CB8AC3E}">
        <p14:creationId xmlns:p14="http://schemas.microsoft.com/office/powerpoint/2010/main" val="102294716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a:extLst>
            <a:ext uri="{FF2B5EF4-FFF2-40B4-BE49-F238E27FC236}">
              <a16:creationId xmlns:a16="http://schemas.microsoft.com/office/drawing/2014/main" id="{C4F2AB3C-2C4B-2C4F-B252-B91F330630C5}"/>
            </a:ext>
          </a:extLst>
        </p:cNvPr>
        <p:cNvGrpSpPr/>
        <p:nvPr/>
      </p:nvGrpSpPr>
      <p:grpSpPr>
        <a:xfrm>
          <a:off x="0" y="0"/>
          <a:ext cx="0" cy="0"/>
          <a:chOff x="0" y="0"/>
          <a:chExt cx="0" cy="0"/>
        </a:xfrm>
      </p:grpSpPr>
      <p:sp>
        <p:nvSpPr>
          <p:cNvPr id="179" name="Tổng quan thuật toán SIFT">
            <a:extLst>
              <a:ext uri="{FF2B5EF4-FFF2-40B4-BE49-F238E27FC236}">
                <a16:creationId xmlns:a16="http://schemas.microsoft.com/office/drawing/2014/main" id="{5C459915-15DF-E20B-8372-D201F52F9303}"/>
              </a:ext>
            </a:extLst>
          </p:cNvPr>
          <p:cNvSpPr txBox="1">
            <a:spLocks noGrp="1"/>
          </p:cNvSpPr>
          <p:nvPr>
            <p:ph type="title"/>
          </p:nvPr>
        </p:nvSpPr>
        <p:spPr>
          <a:xfrm>
            <a:off x="977901" y="263075"/>
            <a:ext cx="21971000" cy="1433164"/>
          </a:xfrm>
          <a:prstGeom prst="rect">
            <a:avLst/>
          </a:prstGeom>
        </p:spPr>
        <p:txBody>
          <a:bodyPr>
            <a:normAutofit/>
          </a:bodyPr>
          <a:lstStyle>
            <a:lvl1pPr defTabSz="1926287">
              <a:defRPr sz="6004" spc="-158">
                <a:solidFill>
                  <a:srgbClr val="0070C0"/>
                </a:solidFill>
                <a:latin typeface="Times New Roman"/>
                <a:ea typeface="Times New Roman"/>
                <a:cs typeface="Times New Roman"/>
                <a:sym typeface="Times New Roman"/>
              </a:defRPr>
            </a:lvl1pPr>
          </a:lstStyle>
          <a:p>
            <a:r>
              <a:rPr lang="en-US" sz="7200" dirty="0" err="1"/>
              <a:t>Tạo</a:t>
            </a:r>
            <a:r>
              <a:rPr lang="en-US" sz="7200" dirty="0"/>
              <a:t> </a:t>
            </a:r>
            <a:r>
              <a:rPr lang="en-US" sz="7200" dirty="0" err="1"/>
              <a:t>giao</a:t>
            </a:r>
            <a:r>
              <a:rPr lang="en-US" sz="7200" dirty="0"/>
              <a:t> </a:t>
            </a:r>
            <a:r>
              <a:rPr lang="en-US" sz="7200" dirty="0" err="1"/>
              <a:t>diện</a:t>
            </a:r>
            <a:r>
              <a:rPr lang="en-US" sz="7200" dirty="0"/>
              <a:t> </a:t>
            </a:r>
            <a:r>
              <a:rPr lang="en-US" sz="7200" dirty="0" err="1"/>
              <a:t>người</a:t>
            </a:r>
            <a:r>
              <a:rPr lang="en-US" sz="7200" dirty="0"/>
              <a:t> </a:t>
            </a:r>
            <a:r>
              <a:rPr lang="en-US" sz="7200" dirty="0" err="1"/>
              <a:t>dùng</a:t>
            </a:r>
            <a:endParaRPr lang="en-US" sz="7200" dirty="0"/>
          </a:p>
        </p:txBody>
      </p:sp>
      <p:sp>
        <p:nvSpPr>
          <p:cNvPr id="2" name="TextBox 1">
            <a:extLst>
              <a:ext uri="{FF2B5EF4-FFF2-40B4-BE49-F238E27FC236}">
                <a16:creationId xmlns:a16="http://schemas.microsoft.com/office/drawing/2014/main" id="{36825A1F-0479-A999-847C-EBCAA8996189}"/>
              </a:ext>
            </a:extLst>
          </p:cNvPr>
          <p:cNvSpPr txBox="1"/>
          <p:nvPr/>
        </p:nvSpPr>
        <p:spPr>
          <a:xfrm>
            <a:off x="587829" y="2742752"/>
            <a:ext cx="13128171" cy="63119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buNone/>
            </a:pPr>
            <a:r>
              <a:rPr lang="vi-VN" b="1" dirty="0"/>
              <a:t>Nhập liệu linh hoạt</a:t>
            </a:r>
            <a:endParaRPr lang="vi-VN" dirty="0"/>
          </a:p>
          <a:p>
            <a:pPr>
              <a:buFont typeface="Arial" panose="020B0604020202020204" pitchFamily="34" charset="0"/>
              <a:buChar char="•"/>
            </a:pPr>
            <a:r>
              <a:rPr lang="vi-VN" dirty="0"/>
              <a:t> Form ”Find Shortest Path”</a:t>
            </a:r>
          </a:p>
          <a:p>
            <a:pPr>
              <a:buFont typeface="Arial" panose="020B0604020202020204" pitchFamily="34" charset="0"/>
              <a:buChar char="•"/>
            </a:pPr>
            <a:r>
              <a:rPr lang="vi-VN" dirty="0"/>
              <a:t> Form “Find Reachable Locations</a:t>
            </a:r>
          </a:p>
          <a:p>
            <a:pPr>
              <a:buFont typeface="Arial" panose="020B0604020202020204" pitchFamily="34" charset="0"/>
              <a:buChar char="•"/>
            </a:pPr>
            <a:r>
              <a:rPr lang="vi-VN" dirty="0"/>
              <a:t> Form Find Minimum Spanning Tree</a:t>
            </a:r>
          </a:p>
          <a:p>
            <a:pPr>
              <a:buFont typeface="Arial" panose="020B0604020202020204" pitchFamily="34" charset="0"/>
              <a:buChar char="•"/>
            </a:pPr>
            <a:r>
              <a:rPr lang="vi-VN" dirty="0"/>
              <a:t>Explore All Locations</a:t>
            </a:r>
          </a:p>
        </p:txBody>
      </p:sp>
      <p:pic>
        <p:nvPicPr>
          <p:cNvPr id="3" name="Picture 2">
            <a:extLst>
              <a:ext uri="{FF2B5EF4-FFF2-40B4-BE49-F238E27FC236}">
                <a16:creationId xmlns:a16="http://schemas.microsoft.com/office/drawing/2014/main" id="{E985EB99-E502-97ED-E7E1-4D0EA858A08C}"/>
              </a:ext>
            </a:extLst>
          </p:cNvPr>
          <p:cNvPicPr>
            <a:picLocks noChangeAspect="1"/>
          </p:cNvPicPr>
          <p:nvPr/>
        </p:nvPicPr>
        <p:blipFill>
          <a:blip r:embed="rId3"/>
          <a:stretch>
            <a:fillRect/>
          </a:stretch>
        </p:blipFill>
        <p:spPr>
          <a:xfrm>
            <a:off x="14336486" y="1558886"/>
            <a:ext cx="9720943" cy="11053409"/>
          </a:xfrm>
          <a:prstGeom prst="rect">
            <a:avLst/>
          </a:prstGeom>
        </p:spPr>
      </p:pic>
    </p:spTree>
    <p:extLst>
      <p:ext uri="{BB962C8B-B14F-4D97-AF65-F5344CB8AC3E}">
        <p14:creationId xmlns:p14="http://schemas.microsoft.com/office/powerpoint/2010/main" val="15586373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a:extLst>
            <a:ext uri="{FF2B5EF4-FFF2-40B4-BE49-F238E27FC236}">
              <a16:creationId xmlns:a16="http://schemas.microsoft.com/office/drawing/2014/main" id="{BF4B51A5-7348-CB49-12C0-1A0F0E93A30C}"/>
            </a:ext>
          </a:extLst>
        </p:cNvPr>
        <p:cNvGrpSpPr/>
        <p:nvPr/>
      </p:nvGrpSpPr>
      <p:grpSpPr>
        <a:xfrm>
          <a:off x="0" y="0"/>
          <a:ext cx="0" cy="0"/>
          <a:chOff x="0" y="0"/>
          <a:chExt cx="0" cy="0"/>
        </a:xfrm>
      </p:grpSpPr>
      <p:sp>
        <p:nvSpPr>
          <p:cNvPr id="179" name="Tổng quan thuật toán SIFT">
            <a:extLst>
              <a:ext uri="{FF2B5EF4-FFF2-40B4-BE49-F238E27FC236}">
                <a16:creationId xmlns:a16="http://schemas.microsoft.com/office/drawing/2014/main" id="{2AEFB674-9C01-F3EA-2472-244687855C0E}"/>
              </a:ext>
            </a:extLst>
          </p:cNvPr>
          <p:cNvSpPr txBox="1">
            <a:spLocks noGrp="1"/>
          </p:cNvSpPr>
          <p:nvPr>
            <p:ph type="title"/>
          </p:nvPr>
        </p:nvSpPr>
        <p:spPr>
          <a:xfrm>
            <a:off x="977901" y="263075"/>
            <a:ext cx="21971000" cy="1433164"/>
          </a:xfrm>
          <a:prstGeom prst="rect">
            <a:avLst/>
          </a:prstGeom>
        </p:spPr>
        <p:txBody>
          <a:bodyPr>
            <a:normAutofit/>
          </a:bodyPr>
          <a:lstStyle>
            <a:lvl1pPr defTabSz="1926287">
              <a:defRPr sz="6004" spc="-158">
                <a:solidFill>
                  <a:srgbClr val="0070C0"/>
                </a:solidFill>
                <a:latin typeface="Times New Roman"/>
                <a:ea typeface="Times New Roman"/>
                <a:cs typeface="Times New Roman"/>
                <a:sym typeface="Times New Roman"/>
              </a:defRPr>
            </a:lvl1pPr>
          </a:lstStyle>
          <a:p>
            <a:r>
              <a:rPr lang="en-US" sz="7200" dirty="0" err="1"/>
              <a:t>Triển</a:t>
            </a:r>
            <a:r>
              <a:rPr lang="en-US" sz="7200" dirty="0"/>
              <a:t> </a:t>
            </a:r>
            <a:r>
              <a:rPr lang="en-US" sz="7200" dirty="0" err="1"/>
              <a:t>khai</a:t>
            </a:r>
            <a:r>
              <a:rPr lang="en-US" sz="7200" dirty="0"/>
              <a:t> </a:t>
            </a:r>
            <a:r>
              <a:rPr lang="en-US" sz="7200" dirty="0" err="1"/>
              <a:t>và</a:t>
            </a:r>
            <a:r>
              <a:rPr lang="en-US" sz="7200" dirty="0"/>
              <a:t> </a:t>
            </a:r>
            <a:r>
              <a:rPr lang="en-US" sz="7200" dirty="0" err="1"/>
              <a:t>kiểm</a:t>
            </a:r>
            <a:r>
              <a:rPr lang="en-US" sz="7200" dirty="0"/>
              <a:t> </a:t>
            </a:r>
            <a:r>
              <a:rPr lang="en-US" sz="7200" dirty="0" err="1"/>
              <a:t>thử</a:t>
            </a:r>
            <a:r>
              <a:rPr lang="en-US" sz="7200" dirty="0"/>
              <a:t> </a:t>
            </a:r>
            <a:r>
              <a:rPr lang="en-US" sz="7200" dirty="0" err="1"/>
              <a:t>hiệu</a:t>
            </a:r>
            <a:r>
              <a:rPr lang="en-US" sz="7200" dirty="0"/>
              <a:t> </a:t>
            </a:r>
            <a:r>
              <a:rPr lang="en-US" sz="7200" dirty="0" err="1"/>
              <a:t>năng</a:t>
            </a:r>
            <a:endParaRPr lang="en-US" sz="7200" dirty="0"/>
          </a:p>
        </p:txBody>
      </p:sp>
      <p:sp>
        <p:nvSpPr>
          <p:cNvPr id="2" name="TextBox 1">
            <a:extLst>
              <a:ext uri="{FF2B5EF4-FFF2-40B4-BE49-F238E27FC236}">
                <a16:creationId xmlns:a16="http://schemas.microsoft.com/office/drawing/2014/main" id="{BD5AE231-266A-0B3B-933B-D8413D4ACADA}"/>
              </a:ext>
            </a:extLst>
          </p:cNvPr>
          <p:cNvSpPr txBox="1"/>
          <p:nvPr/>
        </p:nvSpPr>
        <p:spPr>
          <a:xfrm>
            <a:off x="587829" y="5226508"/>
            <a:ext cx="18875828" cy="13444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buNone/>
            </a:pPr>
            <a:r>
              <a:rPr lang="vi-VN" b="1" dirty="0"/>
              <a:t>Triển khai và kiểm thử hiệu năng có trong video </a:t>
            </a:r>
            <a:endParaRPr lang="vi-VN" dirty="0"/>
          </a:p>
        </p:txBody>
      </p:sp>
    </p:spTree>
    <p:extLst>
      <p:ext uri="{BB962C8B-B14F-4D97-AF65-F5344CB8AC3E}">
        <p14:creationId xmlns:p14="http://schemas.microsoft.com/office/powerpoint/2010/main" val="143797752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a:extLst>
            <a:ext uri="{FF2B5EF4-FFF2-40B4-BE49-F238E27FC236}">
              <a16:creationId xmlns:a16="http://schemas.microsoft.com/office/drawing/2014/main" id="{62B7386D-92F9-C7B8-9B9C-11992255ADA2}"/>
            </a:ext>
          </a:extLst>
        </p:cNvPr>
        <p:cNvGrpSpPr/>
        <p:nvPr/>
      </p:nvGrpSpPr>
      <p:grpSpPr>
        <a:xfrm>
          <a:off x="0" y="0"/>
          <a:ext cx="0" cy="0"/>
          <a:chOff x="0" y="0"/>
          <a:chExt cx="0" cy="0"/>
        </a:xfrm>
      </p:grpSpPr>
      <p:sp>
        <p:nvSpPr>
          <p:cNvPr id="179" name="Tổng quan thuật toán SIFT">
            <a:extLst>
              <a:ext uri="{FF2B5EF4-FFF2-40B4-BE49-F238E27FC236}">
                <a16:creationId xmlns:a16="http://schemas.microsoft.com/office/drawing/2014/main" id="{D730BD6A-CF1D-757B-5592-B37B2B823DA2}"/>
              </a:ext>
            </a:extLst>
          </p:cNvPr>
          <p:cNvSpPr txBox="1">
            <a:spLocks noGrp="1"/>
          </p:cNvSpPr>
          <p:nvPr>
            <p:ph type="title"/>
          </p:nvPr>
        </p:nvSpPr>
        <p:spPr>
          <a:xfrm>
            <a:off x="977901" y="263075"/>
            <a:ext cx="21971000" cy="1433164"/>
          </a:xfrm>
          <a:prstGeom prst="rect">
            <a:avLst/>
          </a:prstGeom>
        </p:spPr>
        <p:txBody>
          <a:bodyPr>
            <a:normAutofit/>
          </a:bodyPr>
          <a:lstStyle>
            <a:lvl1pPr defTabSz="1926287">
              <a:defRPr sz="6004" spc="-158">
                <a:solidFill>
                  <a:srgbClr val="0070C0"/>
                </a:solidFill>
                <a:latin typeface="Times New Roman"/>
                <a:ea typeface="Times New Roman"/>
                <a:cs typeface="Times New Roman"/>
                <a:sym typeface="Times New Roman"/>
              </a:defRPr>
            </a:lvl1pPr>
          </a:lstStyle>
          <a:p>
            <a:r>
              <a:rPr lang="en-US" sz="7200" dirty="0" err="1"/>
              <a:t>Kết</a:t>
            </a:r>
            <a:r>
              <a:rPr lang="en-US" sz="7200" dirty="0"/>
              <a:t> </a:t>
            </a:r>
            <a:r>
              <a:rPr lang="en-US" sz="7200" dirty="0" err="1"/>
              <a:t>luận</a:t>
            </a:r>
            <a:r>
              <a:rPr lang="en-US" sz="7200" dirty="0"/>
              <a:t> </a:t>
            </a:r>
          </a:p>
        </p:txBody>
      </p:sp>
      <p:sp>
        <p:nvSpPr>
          <p:cNvPr id="2" name="TextBox 1">
            <a:extLst>
              <a:ext uri="{FF2B5EF4-FFF2-40B4-BE49-F238E27FC236}">
                <a16:creationId xmlns:a16="http://schemas.microsoft.com/office/drawing/2014/main" id="{9D51022F-F34F-C2E6-7EC9-FC76EE24E818}"/>
              </a:ext>
            </a:extLst>
          </p:cNvPr>
          <p:cNvSpPr txBox="1"/>
          <p:nvPr/>
        </p:nvSpPr>
        <p:spPr>
          <a:xfrm>
            <a:off x="587829" y="1696239"/>
            <a:ext cx="23796171" cy="113672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buNone/>
            </a:pPr>
            <a:r>
              <a:rPr lang="vi-VN" dirty="0"/>
              <a:t>Project này đã xây dựng thành công đồ thị tuyến điểm địa danh ở Việt Nam(80 điểm) và tuyến đường (cạnh có trọng số)</a:t>
            </a:r>
          </a:p>
          <a:p>
            <a:pPr>
              <a:buNone/>
            </a:pPr>
            <a:r>
              <a:rPr lang="vi-VN" dirty="0"/>
              <a:t>Ứng dụng hiệu quả DFS/BFS để khám phá lộ trình khả thi, Dijkstra tối ưu đường đi theo khoảng cách/thời gian/chi phí, Prim/Kruskal xác định mạng lưới kết nối tối ưu</a:t>
            </a:r>
          </a:p>
          <a:p>
            <a:r>
              <a:rPr lang="vi-VN" dirty="0"/>
              <a:t>Giao diện cho phép nhập điểm đi/đến, tùy chọn tiêu chí, hiển thị lộ trình trực quan</a:t>
            </a:r>
          </a:p>
          <a:p>
            <a:r>
              <a:rPr lang="vi-VN" b="1" dirty="0"/>
              <a:t>Đặc điểm chung:</a:t>
            </a:r>
          </a:p>
          <a:p>
            <a:r>
              <a:rPr lang="vi-VN" dirty="0"/>
              <a:t>- Tối ưu hóa tổng chi phí và thời gian di chuyển</a:t>
            </a:r>
          </a:p>
          <a:p>
            <a:r>
              <a:rPr lang="vi-VN" dirty="0"/>
              <a:t>- Dễ dàng mở rộng thêm tiêu chí (giao thông thực thời, phí cầu đường)</a:t>
            </a:r>
          </a:p>
          <a:p>
            <a:r>
              <a:rPr lang="vi-VN" dirty="0"/>
              <a:t>- Tái sử dụng mô hình cho nhiều kịch bản: du lịch, logistics, vận tải đô thị</a:t>
            </a:r>
          </a:p>
          <a:p>
            <a:endParaRPr lang="vi-VN" dirty="0"/>
          </a:p>
        </p:txBody>
      </p:sp>
    </p:spTree>
    <p:extLst>
      <p:ext uri="{BB962C8B-B14F-4D97-AF65-F5344CB8AC3E}">
        <p14:creationId xmlns:p14="http://schemas.microsoft.com/office/powerpoint/2010/main" val="64528402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30239</TotalTime>
  <Words>1138</Words>
  <Application>Microsoft Macintosh PowerPoint</Application>
  <PresentationFormat>Custom</PresentationFormat>
  <Paragraphs>73</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Helvetica Neue</vt:lpstr>
      <vt:lpstr>Helvetica Neue Medium</vt:lpstr>
      <vt:lpstr>Times New Roman</vt:lpstr>
      <vt:lpstr>21_BasicWhite</vt:lpstr>
      <vt:lpstr> GIẢI THUẬT NÂNG CAO Hệ thống lập kế hoạch  lộ trình du lịch tối ưu</vt:lpstr>
      <vt:lpstr>Mục tiêu và phạm vi dự án</vt:lpstr>
      <vt:lpstr>Tổng quan về Lập kế hoạch lộ trình &amp; Ứng dụng </vt:lpstr>
      <vt:lpstr>Mô hình đồ thị: Nút và Cạnh</vt:lpstr>
      <vt:lpstr>Thuật toán tìm đường ngắn nhất Dijkstra</vt:lpstr>
      <vt:lpstr>Thuật toán cây khung nhỏ nhất Prim</vt:lpstr>
      <vt:lpstr>Thuật toán cây khung nhỏ nhất Kruskal</vt:lpstr>
      <vt:lpstr>Tạo giao diện người dùng</vt:lpstr>
      <vt:lpstr>Triển khai và kiểm thử hiệu năng</vt:lpstr>
      <vt:lpstr>Kết luận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Phan Hoang Son</cp:lastModifiedBy>
  <cp:revision>2</cp:revision>
  <dcterms:modified xsi:type="dcterms:W3CDTF">2025-04-24T13:30:14Z</dcterms:modified>
</cp:coreProperties>
</file>